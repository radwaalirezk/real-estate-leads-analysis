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sap Condensed Bold" panose="020B0604020202020204" charset="0"/>
      <p:regular r:id="rId16"/>
    </p:embeddedFont>
    <p:embeddedFont>
      <p:font typeface="Dumondi Condensed" panose="020B0604020202020204" charset="-34"/>
      <p:regular r:id="rId17"/>
    </p:embeddedFont>
    <p:embeddedFont>
      <p:font typeface="Dumondi Condensed Bold" panose="020B0604020202020204" charset="-3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898"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6.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10442073" y="974057"/>
            <a:ext cx="6928577" cy="8884430"/>
          </a:xfrm>
          <a:prstGeom prst="rect">
            <a:avLst/>
          </a:prstGeom>
        </p:spPr>
      </p:pic>
      <p:grpSp>
        <p:nvGrpSpPr>
          <p:cNvPr id="3" name="Group 3"/>
          <p:cNvGrpSpPr/>
          <p:nvPr/>
        </p:nvGrpSpPr>
        <p:grpSpPr>
          <a:xfrm>
            <a:off x="-1164697" y="1266114"/>
            <a:ext cx="2790777" cy="279077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8068"/>
            </a:solidFill>
          </p:spPr>
          <p:txBody>
            <a:bodyPr/>
            <a:lstStyle/>
            <a:p>
              <a:endParaRPr lang="en-US"/>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944651" y="687907"/>
            <a:ext cx="681586" cy="681586"/>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919"/>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5385040" y="8891612"/>
            <a:ext cx="2790777" cy="279077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3911846" y="8677522"/>
            <a:ext cx="802223" cy="80222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8068"/>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3101021" y="1676569"/>
            <a:ext cx="2423873" cy="1516022"/>
          </a:xfrm>
          <a:custGeom>
            <a:avLst/>
            <a:gdLst/>
            <a:ahLst/>
            <a:cxnLst/>
            <a:rect l="l" t="t" r="r" b="b"/>
            <a:pathLst>
              <a:path w="2423873" h="1516022">
                <a:moveTo>
                  <a:pt x="0" y="0"/>
                </a:moveTo>
                <a:lnTo>
                  <a:pt x="2423873" y="0"/>
                </a:lnTo>
                <a:lnTo>
                  <a:pt x="2423873" y="1516022"/>
                </a:lnTo>
                <a:lnTo>
                  <a:pt x="0" y="15160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6" name="TextBox 16"/>
          <p:cNvSpPr txBox="1"/>
          <p:nvPr/>
        </p:nvSpPr>
        <p:spPr>
          <a:xfrm>
            <a:off x="1626079" y="3327797"/>
            <a:ext cx="8465050" cy="1795043"/>
          </a:xfrm>
          <a:prstGeom prst="rect">
            <a:avLst/>
          </a:prstGeom>
        </p:spPr>
        <p:txBody>
          <a:bodyPr lIns="0" tIns="0" rIns="0" bIns="0" rtlCol="0" anchor="t">
            <a:spAutoFit/>
          </a:bodyPr>
          <a:lstStyle/>
          <a:p>
            <a:pPr algn="l">
              <a:lnSpc>
                <a:spcPts val="15437"/>
              </a:lnSpc>
              <a:spcBef>
                <a:spcPct val="0"/>
              </a:spcBef>
            </a:pPr>
            <a:r>
              <a:rPr lang="en-US" sz="9600" b="1" dirty="0">
                <a:solidFill>
                  <a:srgbClr val="000000"/>
                </a:solidFill>
                <a:latin typeface="Asap Condensed Bold"/>
                <a:ea typeface="Asap Condensed Bold"/>
                <a:cs typeface="Asap Condensed Bold"/>
                <a:sym typeface="Asap Condensed Bold"/>
              </a:rPr>
              <a:t>Real Estate  </a:t>
            </a:r>
            <a:r>
              <a:rPr lang="en-US" sz="11026" b="1" dirty="0">
                <a:solidFill>
                  <a:srgbClr val="000000"/>
                </a:solidFill>
                <a:latin typeface="Asap Condensed Bold"/>
                <a:ea typeface="Asap Condensed Bold"/>
                <a:cs typeface="Asap Condensed Bold"/>
                <a:sym typeface="Asap Condensed Bold"/>
              </a:rPr>
              <a:t>Sales</a:t>
            </a:r>
          </a:p>
        </p:txBody>
      </p:sp>
      <p:sp>
        <p:nvSpPr>
          <p:cNvPr id="17" name="TextBox 17"/>
          <p:cNvSpPr txBox="1"/>
          <p:nvPr/>
        </p:nvSpPr>
        <p:spPr>
          <a:xfrm>
            <a:off x="1626079" y="4506106"/>
            <a:ext cx="8465050" cy="2663177"/>
          </a:xfrm>
          <a:prstGeom prst="rect">
            <a:avLst/>
          </a:prstGeom>
        </p:spPr>
        <p:txBody>
          <a:bodyPr lIns="0" tIns="0" rIns="0" bIns="0" rtlCol="0" anchor="t">
            <a:spAutoFit/>
          </a:bodyPr>
          <a:lstStyle/>
          <a:p>
            <a:pPr algn="l">
              <a:lnSpc>
                <a:spcPts val="21735"/>
              </a:lnSpc>
              <a:spcBef>
                <a:spcPct val="0"/>
              </a:spcBef>
            </a:pPr>
            <a:r>
              <a:rPr lang="en-US" sz="15525" b="1">
                <a:solidFill>
                  <a:srgbClr val="000000"/>
                </a:solidFill>
                <a:latin typeface="Asap Condensed Bold"/>
                <a:ea typeface="Asap Condensed Bold"/>
                <a:cs typeface="Asap Condensed Bold"/>
                <a:sym typeface="Asap Condensed Bold"/>
              </a:rPr>
              <a:t>ANALYSIS</a:t>
            </a:r>
          </a:p>
        </p:txBody>
      </p:sp>
      <p:sp>
        <p:nvSpPr>
          <p:cNvPr id="18" name="TextBox 18"/>
          <p:cNvSpPr txBox="1"/>
          <p:nvPr/>
        </p:nvSpPr>
        <p:spPr>
          <a:xfrm>
            <a:off x="7395148" y="821657"/>
            <a:ext cx="3497704" cy="455296"/>
          </a:xfrm>
          <a:prstGeom prst="rect">
            <a:avLst/>
          </a:prstGeom>
        </p:spPr>
        <p:txBody>
          <a:bodyPr lIns="0" tIns="0" rIns="0" bIns="0" rtlCol="0" anchor="t">
            <a:spAutoFit/>
          </a:bodyPr>
          <a:lstStyle/>
          <a:p>
            <a:pPr algn="l">
              <a:lnSpc>
                <a:spcPts val="3779"/>
              </a:lnSpc>
              <a:spcBef>
                <a:spcPct val="0"/>
              </a:spcBef>
            </a:pPr>
            <a:r>
              <a:rPr lang="en-US" sz="2699" spc="59">
                <a:solidFill>
                  <a:srgbClr val="000000"/>
                </a:solidFill>
                <a:latin typeface="Dumondi Condensed"/>
                <a:ea typeface="Dumondi Condensed"/>
                <a:cs typeface="Dumondi Condensed"/>
                <a:sym typeface="Dumondi Condensed"/>
              </a:rPr>
              <a:t>Presented by Radwa Ali</a:t>
            </a:r>
          </a:p>
        </p:txBody>
      </p:sp>
      <p:sp>
        <p:nvSpPr>
          <p:cNvPr id="19" name="TextBox 19"/>
          <p:cNvSpPr txBox="1"/>
          <p:nvPr/>
        </p:nvSpPr>
        <p:spPr>
          <a:xfrm>
            <a:off x="1626079" y="6955104"/>
            <a:ext cx="7517921" cy="587375"/>
          </a:xfrm>
          <a:prstGeom prst="rect">
            <a:avLst/>
          </a:prstGeom>
        </p:spPr>
        <p:txBody>
          <a:bodyPr lIns="0" tIns="0" rIns="0" bIns="0" rtlCol="0" anchor="t">
            <a:spAutoFit/>
          </a:bodyPr>
          <a:lstStyle/>
          <a:p>
            <a:pPr algn="l">
              <a:lnSpc>
                <a:spcPts val="4899"/>
              </a:lnSpc>
              <a:spcBef>
                <a:spcPct val="0"/>
              </a:spcBef>
            </a:pPr>
            <a:r>
              <a:rPr lang="en-US" sz="3499" spc="76">
                <a:solidFill>
                  <a:srgbClr val="000000"/>
                </a:solidFill>
                <a:latin typeface="Dumondi Condensed"/>
                <a:ea typeface="Dumondi Condensed"/>
                <a:cs typeface="Dumondi Condensed"/>
                <a:sym typeface="Dumondi Condensed"/>
              </a:rPr>
              <a:t>Analyzing leads and sales for different properties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45EE9"/>
        </a:solidFill>
        <a:effectLst/>
      </p:bgPr>
    </p:bg>
    <p:spTree>
      <p:nvGrpSpPr>
        <p:cNvPr id="1" name=""/>
        <p:cNvGrpSpPr/>
        <p:nvPr/>
      </p:nvGrpSpPr>
      <p:grpSpPr>
        <a:xfrm>
          <a:off x="0" y="0"/>
          <a:ext cx="0" cy="0"/>
          <a:chOff x="0" y="0"/>
          <a:chExt cx="0" cy="0"/>
        </a:xfrm>
      </p:grpSpPr>
      <p:grpSp>
        <p:nvGrpSpPr>
          <p:cNvPr id="2" name="Group 2"/>
          <p:cNvGrpSpPr/>
          <p:nvPr/>
        </p:nvGrpSpPr>
        <p:grpSpPr>
          <a:xfrm>
            <a:off x="1028700" y="835176"/>
            <a:ext cx="16230600" cy="8229600"/>
            <a:chOff x="0" y="0"/>
            <a:chExt cx="21083246" cy="10690097"/>
          </a:xfrm>
        </p:grpSpPr>
        <p:sp>
          <p:nvSpPr>
            <p:cNvPr id="3" name="Freeform 3"/>
            <p:cNvSpPr/>
            <p:nvPr/>
          </p:nvSpPr>
          <p:spPr>
            <a:xfrm>
              <a:off x="31750" y="31750"/>
              <a:ext cx="21018505" cy="10626596"/>
            </a:xfrm>
            <a:custGeom>
              <a:avLst/>
              <a:gdLst/>
              <a:ahLst/>
              <a:cxnLst/>
              <a:rect l="l" t="t" r="r" b="b"/>
              <a:pathLst>
                <a:path w="21018505" h="10626596">
                  <a:moveTo>
                    <a:pt x="20927036" y="10626596"/>
                  </a:moveTo>
                  <a:lnTo>
                    <a:pt x="92710" y="10626596"/>
                  </a:lnTo>
                  <a:cubicBezTo>
                    <a:pt x="41910" y="10626596"/>
                    <a:pt x="0" y="10584686"/>
                    <a:pt x="0" y="10533886"/>
                  </a:cubicBezTo>
                  <a:lnTo>
                    <a:pt x="0" y="92710"/>
                  </a:lnTo>
                  <a:cubicBezTo>
                    <a:pt x="0" y="41910"/>
                    <a:pt x="41910" y="0"/>
                    <a:pt x="92710" y="0"/>
                  </a:cubicBezTo>
                  <a:lnTo>
                    <a:pt x="20925766" y="0"/>
                  </a:lnTo>
                  <a:cubicBezTo>
                    <a:pt x="20976566" y="0"/>
                    <a:pt x="21018477" y="41910"/>
                    <a:pt x="21018477" y="92710"/>
                  </a:cubicBezTo>
                  <a:lnTo>
                    <a:pt x="21018477" y="10532617"/>
                  </a:lnTo>
                  <a:cubicBezTo>
                    <a:pt x="21019746" y="10584686"/>
                    <a:pt x="20977836" y="10626596"/>
                    <a:pt x="20927036" y="10626596"/>
                  </a:cubicBezTo>
                  <a:close/>
                </a:path>
              </a:pathLst>
            </a:custGeom>
            <a:solidFill>
              <a:srgbClr val="FFFFFF"/>
            </a:solidFill>
          </p:spPr>
          <p:txBody>
            <a:bodyPr/>
            <a:lstStyle/>
            <a:p>
              <a:endParaRPr lang="en-US"/>
            </a:p>
          </p:txBody>
        </p:sp>
        <p:sp>
          <p:nvSpPr>
            <p:cNvPr id="4" name="Freeform 4"/>
            <p:cNvSpPr/>
            <p:nvPr/>
          </p:nvSpPr>
          <p:spPr>
            <a:xfrm>
              <a:off x="0" y="0"/>
              <a:ext cx="21083246" cy="10690096"/>
            </a:xfrm>
            <a:custGeom>
              <a:avLst/>
              <a:gdLst/>
              <a:ahLst/>
              <a:cxnLst/>
              <a:rect l="l" t="t" r="r" b="b"/>
              <a:pathLst>
                <a:path w="21083246" h="10690096">
                  <a:moveTo>
                    <a:pt x="20958786" y="59690"/>
                  </a:moveTo>
                  <a:cubicBezTo>
                    <a:pt x="20994346" y="59690"/>
                    <a:pt x="21023556" y="88900"/>
                    <a:pt x="21023556" y="124460"/>
                  </a:cubicBezTo>
                  <a:lnTo>
                    <a:pt x="21023556" y="10565636"/>
                  </a:lnTo>
                  <a:cubicBezTo>
                    <a:pt x="21023556" y="10601196"/>
                    <a:pt x="20994346" y="10630406"/>
                    <a:pt x="20958786" y="10630406"/>
                  </a:cubicBezTo>
                  <a:lnTo>
                    <a:pt x="124460" y="10630406"/>
                  </a:lnTo>
                  <a:cubicBezTo>
                    <a:pt x="88900" y="10630406"/>
                    <a:pt x="59690" y="10601196"/>
                    <a:pt x="59690" y="10565636"/>
                  </a:cubicBezTo>
                  <a:lnTo>
                    <a:pt x="59690" y="124460"/>
                  </a:lnTo>
                  <a:cubicBezTo>
                    <a:pt x="59690" y="88900"/>
                    <a:pt x="88900" y="59690"/>
                    <a:pt x="124460" y="59690"/>
                  </a:cubicBezTo>
                  <a:lnTo>
                    <a:pt x="20958786" y="59690"/>
                  </a:lnTo>
                  <a:moveTo>
                    <a:pt x="20958786" y="0"/>
                  </a:moveTo>
                  <a:lnTo>
                    <a:pt x="124460" y="0"/>
                  </a:lnTo>
                  <a:cubicBezTo>
                    <a:pt x="55880" y="0"/>
                    <a:pt x="0" y="55880"/>
                    <a:pt x="0" y="124460"/>
                  </a:cubicBezTo>
                  <a:lnTo>
                    <a:pt x="0" y="10565636"/>
                  </a:lnTo>
                  <a:cubicBezTo>
                    <a:pt x="0" y="10634217"/>
                    <a:pt x="55880" y="10690096"/>
                    <a:pt x="124460" y="10690096"/>
                  </a:cubicBezTo>
                  <a:lnTo>
                    <a:pt x="20958786" y="10690096"/>
                  </a:lnTo>
                  <a:cubicBezTo>
                    <a:pt x="21027366" y="10690096"/>
                    <a:pt x="21083246" y="10634217"/>
                    <a:pt x="21083246" y="10565636"/>
                  </a:cubicBezTo>
                  <a:lnTo>
                    <a:pt x="21083246" y="124460"/>
                  </a:lnTo>
                  <a:cubicBezTo>
                    <a:pt x="21083246" y="55880"/>
                    <a:pt x="21027366" y="0"/>
                    <a:pt x="20958786" y="0"/>
                  </a:cubicBezTo>
                  <a:close/>
                </a:path>
              </a:pathLst>
            </a:custGeom>
            <a:solidFill>
              <a:srgbClr val="191919"/>
            </a:solidFill>
          </p:spPr>
          <p:txBody>
            <a:bodyPr/>
            <a:lstStyle/>
            <a:p>
              <a:endParaRPr lang="en-US"/>
            </a:p>
          </p:txBody>
        </p:sp>
      </p:grpSp>
      <p:grpSp>
        <p:nvGrpSpPr>
          <p:cNvPr id="5" name="Group 5"/>
          <p:cNvGrpSpPr/>
          <p:nvPr/>
        </p:nvGrpSpPr>
        <p:grpSpPr>
          <a:xfrm>
            <a:off x="15052046" y="1431436"/>
            <a:ext cx="1670088" cy="464416"/>
            <a:chOff x="0" y="0"/>
            <a:chExt cx="2226784" cy="619221"/>
          </a:xfrm>
        </p:grpSpPr>
        <p:grpSp>
          <p:nvGrpSpPr>
            <p:cNvPr id="6" name="Group 6"/>
            <p:cNvGrpSpPr/>
            <p:nvPr/>
          </p:nvGrpSpPr>
          <p:grpSpPr>
            <a:xfrm>
              <a:off x="0" y="0"/>
              <a:ext cx="619221" cy="61922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804538" y="0"/>
              <a:ext cx="619221" cy="61922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07563" y="0"/>
              <a:ext cx="619221" cy="61922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15" name="TextBox 15"/>
          <p:cNvSpPr txBox="1"/>
          <p:nvPr/>
        </p:nvSpPr>
        <p:spPr>
          <a:xfrm>
            <a:off x="2335307" y="1991561"/>
            <a:ext cx="10468840" cy="1318894"/>
          </a:xfrm>
          <a:prstGeom prst="rect">
            <a:avLst/>
          </a:prstGeom>
        </p:spPr>
        <p:txBody>
          <a:bodyPr lIns="0" tIns="0" rIns="0" bIns="0" rtlCol="0" anchor="t">
            <a:spAutoFit/>
          </a:bodyPr>
          <a:lstStyle/>
          <a:p>
            <a:pPr algn="l">
              <a:lnSpc>
                <a:spcPts val="10780"/>
              </a:lnSpc>
              <a:spcBef>
                <a:spcPct val="0"/>
              </a:spcBef>
            </a:pPr>
            <a:r>
              <a:rPr lang="en-US" sz="7700" b="1">
                <a:solidFill>
                  <a:srgbClr val="000000"/>
                </a:solidFill>
                <a:latin typeface="Asap Condensed Bold"/>
                <a:ea typeface="Asap Condensed Bold"/>
                <a:cs typeface="Asap Condensed Bold"/>
                <a:sym typeface="Asap Condensed Bold"/>
              </a:rPr>
              <a:t>TABLE OF CONTENTS</a:t>
            </a:r>
          </a:p>
        </p:txBody>
      </p:sp>
      <p:grpSp>
        <p:nvGrpSpPr>
          <p:cNvPr id="16" name="Group 16"/>
          <p:cNvGrpSpPr/>
          <p:nvPr/>
        </p:nvGrpSpPr>
        <p:grpSpPr>
          <a:xfrm>
            <a:off x="2335307" y="3329188"/>
            <a:ext cx="715144" cy="715144"/>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18" name="TextBox 18"/>
            <p:cNvSpPr txBox="1"/>
            <p:nvPr/>
          </p:nvSpPr>
          <p:spPr>
            <a:xfrm>
              <a:off x="76200" y="0"/>
              <a:ext cx="660400" cy="736600"/>
            </a:xfrm>
            <a:prstGeom prst="rect">
              <a:avLst/>
            </a:prstGeom>
          </p:spPr>
          <p:txBody>
            <a:bodyPr lIns="0" tIns="0" rIns="0" bIns="0" rtlCol="0" anchor="ctr"/>
            <a:lstStyle/>
            <a:p>
              <a:pPr algn="ctr">
                <a:lnSpc>
                  <a:spcPts val="4339"/>
                </a:lnSpc>
              </a:pPr>
              <a:endParaRPr/>
            </a:p>
          </p:txBody>
        </p:sp>
      </p:grpSp>
      <p:grpSp>
        <p:nvGrpSpPr>
          <p:cNvPr id="19" name="Group 19"/>
          <p:cNvGrpSpPr/>
          <p:nvPr/>
        </p:nvGrpSpPr>
        <p:grpSpPr>
          <a:xfrm>
            <a:off x="2335307" y="4234832"/>
            <a:ext cx="715144" cy="71514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21" name="TextBox 21"/>
            <p:cNvSpPr txBox="1"/>
            <p:nvPr/>
          </p:nvSpPr>
          <p:spPr>
            <a:xfrm>
              <a:off x="76200" y="0"/>
              <a:ext cx="660400" cy="736600"/>
            </a:xfrm>
            <a:prstGeom prst="rect">
              <a:avLst/>
            </a:prstGeom>
          </p:spPr>
          <p:txBody>
            <a:bodyPr lIns="0" tIns="0" rIns="0" bIns="0" rtlCol="0" anchor="ctr"/>
            <a:lstStyle/>
            <a:p>
              <a:pPr algn="ctr">
                <a:lnSpc>
                  <a:spcPts val="4339"/>
                </a:lnSpc>
              </a:pPr>
              <a:endParaRPr/>
            </a:p>
          </p:txBody>
        </p:sp>
      </p:grpSp>
      <p:grpSp>
        <p:nvGrpSpPr>
          <p:cNvPr id="22" name="Group 22"/>
          <p:cNvGrpSpPr/>
          <p:nvPr/>
        </p:nvGrpSpPr>
        <p:grpSpPr>
          <a:xfrm>
            <a:off x="2335307" y="5191554"/>
            <a:ext cx="715144" cy="715144"/>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24" name="TextBox 24"/>
            <p:cNvSpPr txBox="1"/>
            <p:nvPr/>
          </p:nvSpPr>
          <p:spPr>
            <a:xfrm>
              <a:off x="76200" y="0"/>
              <a:ext cx="660400" cy="736600"/>
            </a:xfrm>
            <a:prstGeom prst="rect">
              <a:avLst/>
            </a:prstGeom>
          </p:spPr>
          <p:txBody>
            <a:bodyPr lIns="0" tIns="0" rIns="0" bIns="0" rtlCol="0" anchor="ctr"/>
            <a:lstStyle/>
            <a:p>
              <a:pPr algn="ctr">
                <a:lnSpc>
                  <a:spcPts val="4339"/>
                </a:lnSpc>
              </a:pPr>
              <a:endParaRPr/>
            </a:p>
          </p:txBody>
        </p:sp>
      </p:grpSp>
      <p:grpSp>
        <p:nvGrpSpPr>
          <p:cNvPr id="25" name="Group 25"/>
          <p:cNvGrpSpPr/>
          <p:nvPr/>
        </p:nvGrpSpPr>
        <p:grpSpPr>
          <a:xfrm>
            <a:off x="2335307" y="6148277"/>
            <a:ext cx="715144" cy="715144"/>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27" name="TextBox 27"/>
            <p:cNvSpPr txBox="1"/>
            <p:nvPr/>
          </p:nvSpPr>
          <p:spPr>
            <a:xfrm>
              <a:off x="76200" y="0"/>
              <a:ext cx="660400" cy="736600"/>
            </a:xfrm>
            <a:prstGeom prst="rect">
              <a:avLst/>
            </a:prstGeom>
          </p:spPr>
          <p:txBody>
            <a:bodyPr lIns="0" tIns="0" rIns="0" bIns="0" rtlCol="0" anchor="ctr"/>
            <a:lstStyle/>
            <a:p>
              <a:pPr algn="ctr">
                <a:lnSpc>
                  <a:spcPts val="4339"/>
                </a:lnSpc>
              </a:pPr>
              <a:endParaRPr/>
            </a:p>
          </p:txBody>
        </p:sp>
      </p:grpSp>
      <p:sp>
        <p:nvSpPr>
          <p:cNvPr id="28" name="AutoShape 28"/>
          <p:cNvSpPr/>
          <p:nvPr/>
        </p:nvSpPr>
        <p:spPr>
          <a:xfrm>
            <a:off x="1028700" y="2115192"/>
            <a:ext cx="16230561" cy="47625"/>
          </a:xfrm>
          <a:prstGeom prst="line">
            <a:avLst/>
          </a:prstGeom>
          <a:ln w="47625" cap="flat">
            <a:solidFill>
              <a:srgbClr val="000000"/>
            </a:solidFill>
            <a:prstDash val="solid"/>
            <a:headEnd type="none" w="sm" len="sm"/>
            <a:tailEnd type="none" w="sm" len="sm"/>
          </a:ln>
        </p:spPr>
        <p:txBody>
          <a:bodyPr/>
          <a:lstStyle/>
          <a:p>
            <a:endParaRPr lang="en-US"/>
          </a:p>
        </p:txBody>
      </p:sp>
      <p:grpSp>
        <p:nvGrpSpPr>
          <p:cNvPr id="29" name="Group 29"/>
          <p:cNvGrpSpPr/>
          <p:nvPr/>
        </p:nvGrpSpPr>
        <p:grpSpPr>
          <a:xfrm>
            <a:off x="2335307" y="7053798"/>
            <a:ext cx="715144" cy="715144"/>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31" name="TextBox 31"/>
            <p:cNvSpPr txBox="1"/>
            <p:nvPr/>
          </p:nvSpPr>
          <p:spPr>
            <a:xfrm>
              <a:off x="76200" y="0"/>
              <a:ext cx="660400" cy="736600"/>
            </a:xfrm>
            <a:prstGeom prst="rect">
              <a:avLst/>
            </a:prstGeom>
          </p:spPr>
          <p:txBody>
            <a:bodyPr lIns="0" tIns="0" rIns="0" bIns="0" rtlCol="0" anchor="ctr"/>
            <a:lstStyle/>
            <a:p>
              <a:pPr algn="ctr">
                <a:lnSpc>
                  <a:spcPts val="4339"/>
                </a:lnSpc>
              </a:pPr>
              <a:endParaRPr/>
            </a:p>
          </p:txBody>
        </p:sp>
      </p:grpSp>
      <p:sp>
        <p:nvSpPr>
          <p:cNvPr id="32" name="TextBox 32"/>
          <p:cNvSpPr txBox="1"/>
          <p:nvPr/>
        </p:nvSpPr>
        <p:spPr>
          <a:xfrm>
            <a:off x="3122139" y="3293581"/>
            <a:ext cx="5462368" cy="708430"/>
          </a:xfrm>
          <a:prstGeom prst="rect">
            <a:avLst/>
          </a:prstGeom>
        </p:spPr>
        <p:txBody>
          <a:bodyPr lIns="0" tIns="0" rIns="0" bIns="0" rtlCol="0" anchor="t">
            <a:spAutoFit/>
          </a:bodyPr>
          <a:lstStyle/>
          <a:p>
            <a:pPr algn="l">
              <a:lnSpc>
                <a:spcPts val="5731"/>
              </a:lnSpc>
              <a:spcBef>
                <a:spcPct val="0"/>
              </a:spcBef>
            </a:pPr>
            <a:r>
              <a:rPr lang="en-US" sz="4093" b="1" spc="81">
                <a:solidFill>
                  <a:srgbClr val="000000"/>
                </a:solidFill>
                <a:latin typeface="Dumondi Condensed Bold"/>
                <a:ea typeface="Dumondi Condensed Bold"/>
                <a:cs typeface="Dumondi Condensed Bold"/>
                <a:sym typeface="Dumondi Condensed Bold"/>
              </a:rPr>
              <a:t>Introduction</a:t>
            </a:r>
          </a:p>
        </p:txBody>
      </p:sp>
      <p:sp>
        <p:nvSpPr>
          <p:cNvPr id="33" name="TextBox 33"/>
          <p:cNvSpPr txBox="1"/>
          <p:nvPr/>
        </p:nvSpPr>
        <p:spPr>
          <a:xfrm>
            <a:off x="3231690" y="5152049"/>
            <a:ext cx="6263551" cy="708430"/>
          </a:xfrm>
          <a:prstGeom prst="rect">
            <a:avLst/>
          </a:prstGeom>
        </p:spPr>
        <p:txBody>
          <a:bodyPr lIns="0" tIns="0" rIns="0" bIns="0" rtlCol="0" anchor="t">
            <a:spAutoFit/>
          </a:bodyPr>
          <a:lstStyle/>
          <a:p>
            <a:pPr algn="l">
              <a:lnSpc>
                <a:spcPts val="5731"/>
              </a:lnSpc>
              <a:spcBef>
                <a:spcPct val="0"/>
              </a:spcBef>
            </a:pPr>
            <a:r>
              <a:rPr lang="en-US" sz="4093" b="1" spc="81">
                <a:solidFill>
                  <a:srgbClr val="000000"/>
                </a:solidFill>
                <a:latin typeface="Dumondi Condensed Bold"/>
                <a:ea typeface="Dumondi Condensed Bold"/>
                <a:cs typeface="Dumondi Condensed Bold"/>
                <a:sym typeface="Dumondi Condensed Bold"/>
              </a:rPr>
              <a:t>Data Inspection and Preprocessing</a:t>
            </a:r>
          </a:p>
        </p:txBody>
      </p:sp>
      <p:sp>
        <p:nvSpPr>
          <p:cNvPr id="34" name="TextBox 34"/>
          <p:cNvSpPr txBox="1"/>
          <p:nvPr/>
        </p:nvSpPr>
        <p:spPr>
          <a:xfrm>
            <a:off x="3231690" y="7014292"/>
            <a:ext cx="5462368" cy="708430"/>
          </a:xfrm>
          <a:prstGeom prst="rect">
            <a:avLst/>
          </a:prstGeom>
        </p:spPr>
        <p:txBody>
          <a:bodyPr lIns="0" tIns="0" rIns="0" bIns="0" rtlCol="0" anchor="t">
            <a:spAutoFit/>
          </a:bodyPr>
          <a:lstStyle/>
          <a:p>
            <a:pPr algn="l">
              <a:lnSpc>
                <a:spcPts val="5731"/>
              </a:lnSpc>
              <a:spcBef>
                <a:spcPct val="0"/>
              </a:spcBef>
            </a:pPr>
            <a:r>
              <a:rPr lang="en-US" sz="4093" b="1" spc="81">
                <a:solidFill>
                  <a:srgbClr val="000000"/>
                </a:solidFill>
                <a:latin typeface="Dumondi Condensed Bold"/>
                <a:ea typeface="Dumondi Condensed Bold"/>
                <a:cs typeface="Dumondi Condensed Bold"/>
                <a:sym typeface="Dumondi Condensed Bold"/>
              </a:rPr>
              <a:t>Conclusion</a:t>
            </a:r>
          </a:p>
        </p:txBody>
      </p:sp>
      <p:sp>
        <p:nvSpPr>
          <p:cNvPr id="35" name="TextBox 35"/>
          <p:cNvSpPr txBox="1"/>
          <p:nvPr/>
        </p:nvSpPr>
        <p:spPr>
          <a:xfrm>
            <a:off x="3231690" y="6111449"/>
            <a:ext cx="5462368" cy="708430"/>
          </a:xfrm>
          <a:prstGeom prst="rect">
            <a:avLst/>
          </a:prstGeom>
        </p:spPr>
        <p:txBody>
          <a:bodyPr lIns="0" tIns="0" rIns="0" bIns="0" rtlCol="0" anchor="t">
            <a:spAutoFit/>
          </a:bodyPr>
          <a:lstStyle/>
          <a:p>
            <a:pPr algn="l">
              <a:lnSpc>
                <a:spcPts val="5731"/>
              </a:lnSpc>
              <a:spcBef>
                <a:spcPct val="0"/>
              </a:spcBef>
            </a:pPr>
            <a:r>
              <a:rPr lang="en-US" sz="4093" b="1" spc="81">
                <a:solidFill>
                  <a:srgbClr val="000000"/>
                </a:solidFill>
                <a:latin typeface="Dumondi Condensed Bold"/>
                <a:ea typeface="Dumondi Condensed Bold"/>
                <a:cs typeface="Dumondi Condensed Bold"/>
                <a:sym typeface="Dumondi Condensed Bold"/>
              </a:rPr>
              <a:t>Business Analysis</a:t>
            </a:r>
          </a:p>
        </p:txBody>
      </p:sp>
      <p:sp>
        <p:nvSpPr>
          <p:cNvPr id="36" name="TextBox 36"/>
          <p:cNvSpPr txBox="1"/>
          <p:nvPr/>
        </p:nvSpPr>
        <p:spPr>
          <a:xfrm>
            <a:off x="2444857" y="3293581"/>
            <a:ext cx="496042" cy="700632"/>
          </a:xfrm>
          <a:prstGeom prst="rect">
            <a:avLst/>
          </a:prstGeom>
        </p:spPr>
        <p:txBody>
          <a:bodyPr lIns="0" tIns="0" rIns="0" bIns="0" rtlCol="0" anchor="t">
            <a:spAutoFit/>
          </a:bodyPr>
          <a:lstStyle/>
          <a:p>
            <a:pPr algn="ctr">
              <a:lnSpc>
                <a:spcPts val="5731"/>
              </a:lnSpc>
              <a:spcBef>
                <a:spcPct val="0"/>
              </a:spcBef>
            </a:pPr>
            <a:r>
              <a:rPr lang="en-US" sz="4093" b="1" spc="81">
                <a:solidFill>
                  <a:srgbClr val="FFFFFF"/>
                </a:solidFill>
                <a:latin typeface="Dumondi Condensed Bold"/>
                <a:ea typeface="Dumondi Condensed Bold"/>
                <a:cs typeface="Dumondi Condensed Bold"/>
                <a:sym typeface="Dumondi Condensed Bold"/>
              </a:rPr>
              <a:t>1</a:t>
            </a:r>
          </a:p>
        </p:txBody>
      </p:sp>
      <p:sp>
        <p:nvSpPr>
          <p:cNvPr id="37" name="TextBox 37"/>
          <p:cNvSpPr txBox="1"/>
          <p:nvPr/>
        </p:nvSpPr>
        <p:spPr>
          <a:xfrm>
            <a:off x="2444857" y="4203124"/>
            <a:ext cx="496042" cy="700632"/>
          </a:xfrm>
          <a:prstGeom prst="rect">
            <a:avLst/>
          </a:prstGeom>
        </p:spPr>
        <p:txBody>
          <a:bodyPr lIns="0" tIns="0" rIns="0" bIns="0" rtlCol="0" anchor="t">
            <a:spAutoFit/>
          </a:bodyPr>
          <a:lstStyle/>
          <a:p>
            <a:pPr algn="ctr">
              <a:lnSpc>
                <a:spcPts val="5731"/>
              </a:lnSpc>
              <a:spcBef>
                <a:spcPct val="0"/>
              </a:spcBef>
            </a:pPr>
            <a:r>
              <a:rPr lang="en-US" sz="4093" b="1" spc="81">
                <a:solidFill>
                  <a:srgbClr val="FFFFFF"/>
                </a:solidFill>
                <a:latin typeface="Dumondi Condensed Bold"/>
                <a:ea typeface="Dumondi Condensed Bold"/>
                <a:cs typeface="Dumondi Condensed Bold"/>
                <a:sym typeface="Dumondi Condensed Bold"/>
              </a:rPr>
              <a:t>2</a:t>
            </a:r>
          </a:p>
        </p:txBody>
      </p:sp>
      <p:sp>
        <p:nvSpPr>
          <p:cNvPr id="38" name="TextBox 38"/>
          <p:cNvSpPr txBox="1"/>
          <p:nvPr/>
        </p:nvSpPr>
        <p:spPr>
          <a:xfrm>
            <a:off x="2444857" y="5152049"/>
            <a:ext cx="496042" cy="700632"/>
          </a:xfrm>
          <a:prstGeom prst="rect">
            <a:avLst/>
          </a:prstGeom>
        </p:spPr>
        <p:txBody>
          <a:bodyPr lIns="0" tIns="0" rIns="0" bIns="0" rtlCol="0" anchor="t">
            <a:spAutoFit/>
          </a:bodyPr>
          <a:lstStyle/>
          <a:p>
            <a:pPr algn="ctr">
              <a:lnSpc>
                <a:spcPts val="5731"/>
              </a:lnSpc>
              <a:spcBef>
                <a:spcPct val="0"/>
              </a:spcBef>
            </a:pPr>
            <a:r>
              <a:rPr lang="en-US" sz="4093" b="1" spc="81">
                <a:solidFill>
                  <a:srgbClr val="FFFFFF"/>
                </a:solidFill>
                <a:latin typeface="Dumondi Condensed Bold"/>
                <a:ea typeface="Dumondi Condensed Bold"/>
                <a:cs typeface="Dumondi Condensed Bold"/>
                <a:sym typeface="Dumondi Condensed Bold"/>
              </a:rPr>
              <a:t>3</a:t>
            </a:r>
          </a:p>
        </p:txBody>
      </p:sp>
      <p:sp>
        <p:nvSpPr>
          <p:cNvPr id="39" name="TextBox 39"/>
          <p:cNvSpPr txBox="1"/>
          <p:nvPr/>
        </p:nvSpPr>
        <p:spPr>
          <a:xfrm>
            <a:off x="2444857" y="6148568"/>
            <a:ext cx="496042" cy="700632"/>
          </a:xfrm>
          <a:prstGeom prst="rect">
            <a:avLst/>
          </a:prstGeom>
        </p:spPr>
        <p:txBody>
          <a:bodyPr lIns="0" tIns="0" rIns="0" bIns="0" rtlCol="0" anchor="t">
            <a:spAutoFit/>
          </a:bodyPr>
          <a:lstStyle/>
          <a:p>
            <a:pPr algn="ctr">
              <a:lnSpc>
                <a:spcPts val="5731"/>
              </a:lnSpc>
              <a:spcBef>
                <a:spcPct val="0"/>
              </a:spcBef>
            </a:pPr>
            <a:r>
              <a:rPr lang="en-US" sz="4093" b="1" spc="81">
                <a:solidFill>
                  <a:srgbClr val="FFFFFF"/>
                </a:solidFill>
                <a:latin typeface="Dumondi Condensed Bold"/>
                <a:ea typeface="Dumondi Condensed Bold"/>
                <a:cs typeface="Dumondi Condensed Bold"/>
                <a:sym typeface="Dumondi Condensed Bold"/>
              </a:rPr>
              <a:t>4</a:t>
            </a:r>
          </a:p>
        </p:txBody>
      </p:sp>
      <p:sp>
        <p:nvSpPr>
          <p:cNvPr id="40" name="TextBox 40"/>
          <p:cNvSpPr txBox="1"/>
          <p:nvPr/>
        </p:nvSpPr>
        <p:spPr>
          <a:xfrm>
            <a:off x="2444857" y="7014292"/>
            <a:ext cx="496042" cy="700632"/>
          </a:xfrm>
          <a:prstGeom prst="rect">
            <a:avLst/>
          </a:prstGeom>
        </p:spPr>
        <p:txBody>
          <a:bodyPr lIns="0" tIns="0" rIns="0" bIns="0" rtlCol="0" anchor="t">
            <a:spAutoFit/>
          </a:bodyPr>
          <a:lstStyle/>
          <a:p>
            <a:pPr algn="ctr">
              <a:lnSpc>
                <a:spcPts val="5731"/>
              </a:lnSpc>
              <a:spcBef>
                <a:spcPct val="0"/>
              </a:spcBef>
            </a:pPr>
            <a:r>
              <a:rPr lang="en-US" sz="4093" b="1" spc="81">
                <a:solidFill>
                  <a:srgbClr val="FFFFFF"/>
                </a:solidFill>
                <a:latin typeface="Dumondi Condensed Bold"/>
                <a:ea typeface="Dumondi Condensed Bold"/>
                <a:cs typeface="Dumondi Condensed Bold"/>
                <a:sym typeface="Dumondi Condensed Bold"/>
              </a:rPr>
              <a:t>5</a:t>
            </a:r>
          </a:p>
        </p:txBody>
      </p:sp>
      <p:pic>
        <p:nvPicPr>
          <p:cNvPr id="41" name="Picture 41"/>
          <p:cNvPicPr>
            <a:picLocks noChangeAspect="1"/>
          </p:cNvPicPr>
          <p:nvPr/>
        </p:nvPicPr>
        <p:blipFill>
          <a:blip r:embed="rId2"/>
          <a:srcRect/>
          <a:stretch>
            <a:fillRect/>
          </a:stretch>
        </p:blipFill>
        <p:spPr>
          <a:xfrm>
            <a:off x="14865166" y="5356508"/>
            <a:ext cx="2043849" cy="3554993"/>
          </a:xfrm>
          <a:prstGeom prst="rect">
            <a:avLst/>
          </a:prstGeom>
        </p:spPr>
      </p:pic>
      <p:sp>
        <p:nvSpPr>
          <p:cNvPr id="42" name="TextBox 42"/>
          <p:cNvSpPr txBox="1"/>
          <p:nvPr/>
        </p:nvSpPr>
        <p:spPr>
          <a:xfrm>
            <a:off x="3231690" y="4241545"/>
            <a:ext cx="5462368" cy="708430"/>
          </a:xfrm>
          <a:prstGeom prst="rect">
            <a:avLst/>
          </a:prstGeom>
        </p:spPr>
        <p:txBody>
          <a:bodyPr lIns="0" tIns="0" rIns="0" bIns="0" rtlCol="0" anchor="t">
            <a:spAutoFit/>
          </a:bodyPr>
          <a:lstStyle/>
          <a:p>
            <a:pPr algn="l">
              <a:lnSpc>
                <a:spcPts val="5731"/>
              </a:lnSpc>
              <a:spcBef>
                <a:spcPct val="0"/>
              </a:spcBef>
            </a:pPr>
            <a:r>
              <a:rPr lang="en-US" sz="4093" b="1" spc="81">
                <a:solidFill>
                  <a:srgbClr val="000000"/>
                </a:solidFill>
                <a:latin typeface="Dumondi Condensed Bold"/>
                <a:ea typeface="Dumondi Condensed Bold"/>
                <a:cs typeface="Dumondi Condensed Bold"/>
                <a:sym typeface="Dumondi Condensed Bold"/>
              </a:rPr>
              <a:t>Business Understanding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065979" y="2661221"/>
            <a:ext cx="2241710" cy="224171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0106257">
            <a:off x="-1043385" y="-1368934"/>
            <a:ext cx="4144169" cy="414416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923418" y="1617613"/>
            <a:ext cx="14441095" cy="7051773"/>
            <a:chOff x="0" y="0"/>
            <a:chExt cx="18758712" cy="9160122"/>
          </a:xfrm>
        </p:grpSpPr>
        <p:sp>
          <p:nvSpPr>
            <p:cNvPr id="9" name="Freeform 9"/>
            <p:cNvSpPr/>
            <p:nvPr/>
          </p:nvSpPr>
          <p:spPr>
            <a:xfrm>
              <a:off x="31750" y="31750"/>
              <a:ext cx="18693971" cy="9096621"/>
            </a:xfrm>
            <a:custGeom>
              <a:avLst/>
              <a:gdLst/>
              <a:ahLst/>
              <a:cxnLst/>
              <a:rect l="l" t="t" r="r" b="b"/>
              <a:pathLst>
                <a:path w="18693971" h="9096621">
                  <a:moveTo>
                    <a:pt x="18602502" y="9096621"/>
                  </a:moveTo>
                  <a:lnTo>
                    <a:pt x="92710" y="9096621"/>
                  </a:lnTo>
                  <a:cubicBezTo>
                    <a:pt x="41910" y="9096621"/>
                    <a:pt x="0" y="9054712"/>
                    <a:pt x="0" y="9003912"/>
                  </a:cubicBezTo>
                  <a:lnTo>
                    <a:pt x="0" y="92710"/>
                  </a:lnTo>
                  <a:cubicBezTo>
                    <a:pt x="0" y="41910"/>
                    <a:pt x="41910" y="0"/>
                    <a:pt x="92710" y="0"/>
                  </a:cubicBezTo>
                  <a:lnTo>
                    <a:pt x="18601232" y="0"/>
                  </a:lnTo>
                  <a:cubicBezTo>
                    <a:pt x="18652032" y="0"/>
                    <a:pt x="18693943" y="41910"/>
                    <a:pt x="18693943" y="92710"/>
                  </a:cubicBezTo>
                  <a:lnTo>
                    <a:pt x="18693943" y="9002642"/>
                  </a:lnTo>
                  <a:cubicBezTo>
                    <a:pt x="18695212" y="9054712"/>
                    <a:pt x="18653302" y="9096621"/>
                    <a:pt x="18602502" y="9096621"/>
                  </a:cubicBezTo>
                  <a:close/>
                </a:path>
              </a:pathLst>
            </a:custGeom>
            <a:solidFill>
              <a:srgbClr val="FFFFFF"/>
            </a:solidFill>
          </p:spPr>
          <p:txBody>
            <a:bodyPr/>
            <a:lstStyle/>
            <a:p>
              <a:endParaRPr lang="en-US"/>
            </a:p>
          </p:txBody>
        </p:sp>
        <p:sp>
          <p:nvSpPr>
            <p:cNvPr id="10" name="Freeform 10"/>
            <p:cNvSpPr/>
            <p:nvPr/>
          </p:nvSpPr>
          <p:spPr>
            <a:xfrm>
              <a:off x="0" y="0"/>
              <a:ext cx="18758712" cy="9160121"/>
            </a:xfrm>
            <a:custGeom>
              <a:avLst/>
              <a:gdLst/>
              <a:ahLst/>
              <a:cxnLst/>
              <a:rect l="l" t="t" r="r" b="b"/>
              <a:pathLst>
                <a:path w="18758712" h="9160121">
                  <a:moveTo>
                    <a:pt x="18634252" y="59690"/>
                  </a:moveTo>
                  <a:cubicBezTo>
                    <a:pt x="18669812" y="59690"/>
                    <a:pt x="18699021" y="88900"/>
                    <a:pt x="18699021" y="124460"/>
                  </a:cubicBezTo>
                  <a:lnTo>
                    <a:pt x="18699021" y="9035662"/>
                  </a:lnTo>
                  <a:cubicBezTo>
                    <a:pt x="18699021" y="9071221"/>
                    <a:pt x="18669812" y="9100431"/>
                    <a:pt x="18634252" y="9100431"/>
                  </a:cubicBezTo>
                  <a:lnTo>
                    <a:pt x="124460" y="9100431"/>
                  </a:lnTo>
                  <a:cubicBezTo>
                    <a:pt x="88900" y="9100431"/>
                    <a:pt x="59690" y="9071221"/>
                    <a:pt x="59690" y="9035662"/>
                  </a:cubicBezTo>
                  <a:lnTo>
                    <a:pt x="59690" y="124460"/>
                  </a:lnTo>
                  <a:cubicBezTo>
                    <a:pt x="59690" y="88900"/>
                    <a:pt x="88900" y="59690"/>
                    <a:pt x="124460" y="59690"/>
                  </a:cubicBezTo>
                  <a:lnTo>
                    <a:pt x="18634252" y="59690"/>
                  </a:lnTo>
                  <a:moveTo>
                    <a:pt x="18634252" y="0"/>
                  </a:moveTo>
                  <a:lnTo>
                    <a:pt x="124460" y="0"/>
                  </a:lnTo>
                  <a:cubicBezTo>
                    <a:pt x="55880" y="0"/>
                    <a:pt x="0" y="55880"/>
                    <a:pt x="0" y="124460"/>
                  </a:cubicBezTo>
                  <a:lnTo>
                    <a:pt x="0" y="9035662"/>
                  </a:lnTo>
                  <a:cubicBezTo>
                    <a:pt x="0" y="9104242"/>
                    <a:pt x="55880" y="9160121"/>
                    <a:pt x="124460" y="9160121"/>
                  </a:cubicBezTo>
                  <a:lnTo>
                    <a:pt x="18634252" y="9160121"/>
                  </a:lnTo>
                  <a:cubicBezTo>
                    <a:pt x="18702832" y="9160121"/>
                    <a:pt x="18758712" y="9104242"/>
                    <a:pt x="18758712" y="9035662"/>
                  </a:cubicBezTo>
                  <a:lnTo>
                    <a:pt x="18758712" y="124460"/>
                  </a:lnTo>
                  <a:cubicBezTo>
                    <a:pt x="18758712" y="55880"/>
                    <a:pt x="18702832" y="0"/>
                    <a:pt x="18634252" y="0"/>
                  </a:cubicBezTo>
                  <a:close/>
                </a:path>
              </a:pathLst>
            </a:custGeom>
            <a:solidFill>
              <a:srgbClr val="191919"/>
            </a:solidFill>
          </p:spPr>
          <p:txBody>
            <a:bodyPr/>
            <a:lstStyle/>
            <a:p>
              <a:endParaRPr lang="en-US"/>
            </a:p>
          </p:txBody>
        </p:sp>
      </p:grpSp>
      <p:grpSp>
        <p:nvGrpSpPr>
          <p:cNvPr id="11" name="Group 11"/>
          <p:cNvGrpSpPr/>
          <p:nvPr/>
        </p:nvGrpSpPr>
        <p:grpSpPr>
          <a:xfrm>
            <a:off x="14588821" y="2015000"/>
            <a:ext cx="1154593" cy="321067"/>
            <a:chOff x="0" y="0"/>
            <a:chExt cx="1539457" cy="428090"/>
          </a:xfrm>
        </p:grpSpPr>
        <p:grpSp>
          <p:nvGrpSpPr>
            <p:cNvPr id="12" name="Group 12"/>
            <p:cNvGrpSpPr/>
            <p:nvPr/>
          </p:nvGrpSpPr>
          <p:grpSpPr>
            <a:xfrm>
              <a:off x="0" y="0"/>
              <a:ext cx="428090" cy="42809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556206" y="0"/>
              <a:ext cx="428090" cy="42809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111367" y="0"/>
              <a:ext cx="428090" cy="42809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21" name="TextBox 21"/>
          <p:cNvSpPr txBox="1"/>
          <p:nvPr/>
        </p:nvSpPr>
        <p:spPr>
          <a:xfrm>
            <a:off x="5294157" y="3320963"/>
            <a:ext cx="7699617" cy="1318894"/>
          </a:xfrm>
          <a:prstGeom prst="rect">
            <a:avLst/>
          </a:prstGeom>
        </p:spPr>
        <p:txBody>
          <a:bodyPr lIns="0" tIns="0" rIns="0" bIns="0" rtlCol="0" anchor="t">
            <a:spAutoFit/>
          </a:bodyPr>
          <a:lstStyle/>
          <a:p>
            <a:pPr algn="ctr">
              <a:lnSpc>
                <a:spcPts val="10780"/>
              </a:lnSpc>
              <a:spcBef>
                <a:spcPct val="0"/>
              </a:spcBef>
            </a:pPr>
            <a:r>
              <a:rPr lang="en-US" sz="7700" b="1">
                <a:solidFill>
                  <a:srgbClr val="000000"/>
                </a:solidFill>
                <a:latin typeface="Asap Condensed Bold"/>
                <a:ea typeface="Asap Condensed Bold"/>
                <a:cs typeface="Asap Condensed Bold"/>
                <a:sym typeface="Asap Condensed Bold"/>
              </a:rPr>
              <a:t>INTRODUCTION</a:t>
            </a:r>
          </a:p>
        </p:txBody>
      </p:sp>
      <p:sp>
        <p:nvSpPr>
          <p:cNvPr id="22" name="TextBox 22"/>
          <p:cNvSpPr txBox="1"/>
          <p:nvPr/>
        </p:nvSpPr>
        <p:spPr>
          <a:xfrm>
            <a:off x="6103923" y="4931506"/>
            <a:ext cx="6080154" cy="1545038"/>
          </a:xfrm>
          <a:prstGeom prst="rect">
            <a:avLst/>
          </a:prstGeom>
        </p:spPr>
        <p:txBody>
          <a:bodyPr lIns="0" tIns="0" rIns="0" bIns="0" rtlCol="0" anchor="t">
            <a:spAutoFit/>
          </a:bodyPr>
          <a:lstStyle/>
          <a:p>
            <a:pPr algn="ctr">
              <a:lnSpc>
                <a:spcPts val="3984"/>
              </a:lnSpc>
            </a:pPr>
            <a:r>
              <a:rPr lang="en-US" sz="3494" b="1" spc="76" dirty="0">
                <a:solidFill>
                  <a:srgbClr val="000000"/>
                </a:solidFill>
                <a:latin typeface="Dumondi Condensed Bold"/>
                <a:ea typeface="Dumondi Condensed Bold"/>
                <a:cs typeface="Dumondi Condensed Bold"/>
                <a:sym typeface="Dumondi Condensed Bold"/>
              </a:rPr>
              <a:t>In this use case, we are going to analyze leads and sales to gain more insights and utilize more decisions.</a:t>
            </a:r>
          </a:p>
        </p:txBody>
      </p:sp>
      <p:sp>
        <p:nvSpPr>
          <p:cNvPr id="23" name="AutoShape 23"/>
          <p:cNvSpPr/>
          <p:nvPr/>
        </p:nvSpPr>
        <p:spPr>
          <a:xfrm>
            <a:off x="1923418" y="2612293"/>
            <a:ext cx="14441095" cy="23812"/>
          </a:xfrm>
          <a:prstGeom prst="line">
            <a:avLst/>
          </a:prstGeom>
          <a:ln w="47625" cap="flat">
            <a:solidFill>
              <a:srgbClr val="000000"/>
            </a:solidFill>
            <a:prstDash val="solid"/>
            <a:headEnd type="none" w="sm" len="sm"/>
            <a:tailEnd type="none" w="sm" len="sm"/>
          </a:ln>
        </p:spPr>
        <p:txBody>
          <a:bodyPr/>
          <a:lstStyle/>
          <a:p>
            <a:endParaRPr lang="en-US"/>
          </a:p>
        </p:txBody>
      </p:sp>
      <p:pic>
        <p:nvPicPr>
          <p:cNvPr id="24" name="Picture 24"/>
          <p:cNvPicPr>
            <a:picLocks noChangeAspect="1"/>
          </p:cNvPicPr>
          <p:nvPr/>
        </p:nvPicPr>
        <p:blipFill>
          <a:blip r:embed="rId2"/>
          <a:srcRect/>
          <a:stretch>
            <a:fillRect/>
          </a:stretch>
        </p:blipFill>
        <p:spPr>
          <a:xfrm>
            <a:off x="-4486518" y="2659917"/>
            <a:ext cx="9623575" cy="8842229"/>
          </a:xfrm>
          <a:prstGeom prst="rect">
            <a:avLst/>
          </a:prstGeom>
        </p:spPr>
      </p:pic>
      <p:grpSp>
        <p:nvGrpSpPr>
          <p:cNvPr id="25" name="Group 25"/>
          <p:cNvGrpSpPr/>
          <p:nvPr/>
        </p:nvGrpSpPr>
        <p:grpSpPr>
          <a:xfrm>
            <a:off x="16004982" y="5666379"/>
            <a:ext cx="1023862" cy="102386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rot="-10106257">
            <a:off x="3866095" y="627589"/>
            <a:ext cx="802223" cy="802223"/>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15166117" y="7639523"/>
            <a:ext cx="3629641" cy="362964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33" name="TextBox 3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3697" y="7319270"/>
            <a:ext cx="2241710" cy="224171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0106257">
            <a:off x="494251" y="144891"/>
            <a:ext cx="3363512" cy="336351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923378" y="1617613"/>
            <a:ext cx="14441095" cy="7051773"/>
            <a:chOff x="0" y="0"/>
            <a:chExt cx="18758712" cy="9160122"/>
          </a:xfrm>
        </p:grpSpPr>
        <p:sp>
          <p:nvSpPr>
            <p:cNvPr id="9" name="Freeform 9"/>
            <p:cNvSpPr/>
            <p:nvPr/>
          </p:nvSpPr>
          <p:spPr>
            <a:xfrm>
              <a:off x="31750" y="31750"/>
              <a:ext cx="18693971" cy="9096621"/>
            </a:xfrm>
            <a:custGeom>
              <a:avLst/>
              <a:gdLst/>
              <a:ahLst/>
              <a:cxnLst/>
              <a:rect l="l" t="t" r="r" b="b"/>
              <a:pathLst>
                <a:path w="18693971" h="9096621">
                  <a:moveTo>
                    <a:pt x="18602502" y="9096621"/>
                  </a:moveTo>
                  <a:lnTo>
                    <a:pt x="92710" y="9096621"/>
                  </a:lnTo>
                  <a:cubicBezTo>
                    <a:pt x="41910" y="9096621"/>
                    <a:pt x="0" y="9054712"/>
                    <a:pt x="0" y="9003912"/>
                  </a:cubicBezTo>
                  <a:lnTo>
                    <a:pt x="0" y="92710"/>
                  </a:lnTo>
                  <a:cubicBezTo>
                    <a:pt x="0" y="41910"/>
                    <a:pt x="41910" y="0"/>
                    <a:pt x="92710" y="0"/>
                  </a:cubicBezTo>
                  <a:lnTo>
                    <a:pt x="18601232" y="0"/>
                  </a:lnTo>
                  <a:cubicBezTo>
                    <a:pt x="18652032" y="0"/>
                    <a:pt x="18693943" y="41910"/>
                    <a:pt x="18693943" y="92710"/>
                  </a:cubicBezTo>
                  <a:lnTo>
                    <a:pt x="18693943" y="9002642"/>
                  </a:lnTo>
                  <a:cubicBezTo>
                    <a:pt x="18695212" y="9054712"/>
                    <a:pt x="18653302" y="9096621"/>
                    <a:pt x="18602502" y="9096621"/>
                  </a:cubicBezTo>
                  <a:close/>
                </a:path>
              </a:pathLst>
            </a:custGeom>
            <a:solidFill>
              <a:srgbClr val="FFFFFF"/>
            </a:solidFill>
          </p:spPr>
          <p:txBody>
            <a:bodyPr/>
            <a:lstStyle/>
            <a:p>
              <a:endParaRPr lang="en-US"/>
            </a:p>
          </p:txBody>
        </p:sp>
        <p:sp>
          <p:nvSpPr>
            <p:cNvPr id="10" name="Freeform 10"/>
            <p:cNvSpPr/>
            <p:nvPr/>
          </p:nvSpPr>
          <p:spPr>
            <a:xfrm>
              <a:off x="0" y="0"/>
              <a:ext cx="18758712" cy="9160121"/>
            </a:xfrm>
            <a:custGeom>
              <a:avLst/>
              <a:gdLst/>
              <a:ahLst/>
              <a:cxnLst/>
              <a:rect l="l" t="t" r="r" b="b"/>
              <a:pathLst>
                <a:path w="18758712" h="9160121">
                  <a:moveTo>
                    <a:pt x="18634252" y="59690"/>
                  </a:moveTo>
                  <a:cubicBezTo>
                    <a:pt x="18669812" y="59690"/>
                    <a:pt x="18699021" y="88900"/>
                    <a:pt x="18699021" y="124460"/>
                  </a:cubicBezTo>
                  <a:lnTo>
                    <a:pt x="18699021" y="9035662"/>
                  </a:lnTo>
                  <a:cubicBezTo>
                    <a:pt x="18699021" y="9071221"/>
                    <a:pt x="18669812" y="9100431"/>
                    <a:pt x="18634252" y="9100431"/>
                  </a:cubicBezTo>
                  <a:lnTo>
                    <a:pt x="124460" y="9100431"/>
                  </a:lnTo>
                  <a:cubicBezTo>
                    <a:pt x="88900" y="9100431"/>
                    <a:pt x="59690" y="9071221"/>
                    <a:pt x="59690" y="9035662"/>
                  </a:cubicBezTo>
                  <a:lnTo>
                    <a:pt x="59690" y="124460"/>
                  </a:lnTo>
                  <a:cubicBezTo>
                    <a:pt x="59690" y="88900"/>
                    <a:pt x="88900" y="59690"/>
                    <a:pt x="124460" y="59690"/>
                  </a:cubicBezTo>
                  <a:lnTo>
                    <a:pt x="18634252" y="59690"/>
                  </a:lnTo>
                  <a:moveTo>
                    <a:pt x="18634252" y="0"/>
                  </a:moveTo>
                  <a:lnTo>
                    <a:pt x="124460" y="0"/>
                  </a:lnTo>
                  <a:cubicBezTo>
                    <a:pt x="55880" y="0"/>
                    <a:pt x="0" y="55880"/>
                    <a:pt x="0" y="124460"/>
                  </a:cubicBezTo>
                  <a:lnTo>
                    <a:pt x="0" y="9035662"/>
                  </a:lnTo>
                  <a:cubicBezTo>
                    <a:pt x="0" y="9104242"/>
                    <a:pt x="55880" y="9160121"/>
                    <a:pt x="124460" y="9160121"/>
                  </a:cubicBezTo>
                  <a:lnTo>
                    <a:pt x="18634252" y="9160121"/>
                  </a:lnTo>
                  <a:cubicBezTo>
                    <a:pt x="18702832" y="9160121"/>
                    <a:pt x="18758712" y="9104242"/>
                    <a:pt x="18758712" y="9035662"/>
                  </a:cubicBezTo>
                  <a:lnTo>
                    <a:pt x="18758712" y="124460"/>
                  </a:lnTo>
                  <a:cubicBezTo>
                    <a:pt x="18758712" y="55880"/>
                    <a:pt x="18702832" y="0"/>
                    <a:pt x="18634252" y="0"/>
                  </a:cubicBezTo>
                  <a:close/>
                </a:path>
              </a:pathLst>
            </a:custGeom>
            <a:solidFill>
              <a:srgbClr val="191919"/>
            </a:solidFill>
          </p:spPr>
          <p:txBody>
            <a:bodyPr/>
            <a:lstStyle/>
            <a:p>
              <a:endParaRPr lang="en-US"/>
            </a:p>
          </p:txBody>
        </p:sp>
      </p:grpSp>
      <p:grpSp>
        <p:nvGrpSpPr>
          <p:cNvPr id="11" name="Group 11"/>
          <p:cNvGrpSpPr/>
          <p:nvPr/>
        </p:nvGrpSpPr>
        <p:grpSpPr>
          <a:xfrm>
            <a:off x="14588821" y="2015000"/>
            <a:ext cx="1154593" cy="321067"/>
            <a:chOff x="0" y="0"/>
            <a:chExt cx="1539457" cy="428090"/>
          </a:xfrm>
        </p:grpSpPr>
        <p:grpSp>
          <p:nvGrpSpPr>
            <p:cNvPr id="12" name="Group 12"/>
            <p:cNvGrpSpPr/>
            <p:nvPr/>
          </p:nvGrpSpPr>
          <p:grpSpPr>
            <a:xfrm>
              <a:off x="0" y="0"/>
              <a:ext cx="428090" cy="42809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556206" y="0"/>
              <a:ext cx="428090" cy="42809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111367" y="0"/>
              <a:ext cx="428090" cy="42809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21" name="AutoShape 21"/>
          <p:cNvSpPr/>
          <p:nvPr/>
        </p:nvSpPr>
        <p:spPr>
          <a:xfrm>
            <a:off x="1923418" y="2612293"/>
            <a:ext cx="14441095" cy="23812"/>
          </a:xfrm>
          <a:prstGeom prst="line">
            <a:avLst/>
          </a:prstGeom>
          <a:ln w="47625" cap="flat">
            <a:solidFill>
              <a:srgbClr val="000000"/>
            </a:solidFill>
            <a:prstDash val="solid"/>
            <a:headEnd type="none" w="sm" len="sm"/>
            <a:tailEnd type="none" w="sm" len="sm"/>
          </a:ln>
        </p:spPr>
        <p:txBody>
          <a:bodyPr/>
          <a:lstStyle/>
          <a:p>
            <a:endParaRPr lang="en-US"/>
          </a:p>
        </p:txBody>
      </p:sp>
      <p:grpSp>
        <p:nvGrpSpPr>
          <p:cNvPr id="22" name="Group 22"/>
          <p:cNvGrpSpPr/>
          <p:nvPr/>
        </p:nvGrpSpPr>
        <p:grpSpPr>
          <a:xfrm>
            <a:off x="3419151" y="8537118"/>
            <a:ext cx="1023862" cy="1023862"/>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rot="-10106257">
            <a:off x="4857745" y="690402"/>
            <a:ext cx="676596" cy="676596"/>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987438" y="7593839"/>
            <a:ext cx="3629641" cy="3629641"/>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2965631" y="5324564"/>
            <a:ext cx="3974493" cy="2114550"/>
          </a:xfrm>
          <a:prstGeom prst="rect">
            <a:avLst/>
          </a:prstGeom>
        </p:spPr>
        <p:txBody>
          <a:bodyPr lIns="0" tIns="0" rIns="0" bIns="0" rtlCol="0" anchor="t">
            <a:spAutoFit/>
          </a:bodyPr>
          <a:lstStyle/>
          <a:p>
            <a:pPr marL="539749" lvl="1" indent="-269875" algn="l">
              <a:lnSpc>
                <a:spcPts val="2849"/>
              </a:lnSpc>
              <a:buFont typeface="Arial"/>
              <a:buChar char="•"/>
            </a:pPr>
            <a:r>
              <a:rPr lang="en-US" sz="2499" spc="54">
                <a:solidFill>
                  <a:srgbClr val="000000"/>
                </a:solidFill>
                <a:latin typeface="Dumondi Condensed"/>
                <a:ea typeface="Dumondi Condensed"/>
                <a:cs typeface="Dumondi Condensed"/>
                <a:sym typeface="Dumondi Condensed"/>
              </a:rPr>
              <a:t>People who are interested in the product or service provided.</a:t>
            </a:r>
          </a:p>
          <a:p>
            <a:pPr marL="539749" lvl="1" indent="-269875" algn="l">
              <a:lnSpc>
                <a:spcPts val="2849"/>
              </a:lnSpc>
              <a:buFont typeface="Arial"/>
              <a:buChar char="•"/>
            </a:pPr>
            <a:r>
              <a:rPr lang="en-US" sz="2499" spc="54">
                <a:solidFill>
                  <a:srgbClr val="000000"/>
                </a:solidFill>
                <a:latin typeface="Dumondi Condensed"/>
                <a:ea typeface="Dumondi Condensed"/>
                <a:cs typeface="Dumondi Condensed"/>
                <a:sym typeface="Dumondi Condensed"/>
              </a:rPr>
              <a:t>Leads can be generated from different ways such as marketing campaigns, email marketing and others. </a:t>
            </a:r>
          </a:p>
        </p:txBody>
      </p:sp>
      <p:sp>
        <p:nvSpPr>
          <p:cNvPr id="32" name="TextBox 32"/>
          <p:cNvSpPr txBox="1"/>
          <p:nvPr/>
        </p:nvSpPr>
        <p:spPr>
          <a:xfrm>
            <a:off x="2642203" y="3219343"/>
            <a:ext cx="13101211" cy="873125"/>
          </a:xfrm>
          <a:prstGeom prst="rect">
            <a:avLst/>
          </a:prstGeom>
        </p:spPr>
        <p:txBody>
          <a:bodyPr lIns="0" tIns="0" rIns="0" bIns="0" rtlCol="0" anchor="t">
            <a:spAutoFit/>
          </a:bodyPr>
          <a:lstStyle/>
          <a:p>
            <a:pPr algn="ctr">
              <a:lnSpc>
                <a:spcPts val="7000"/>
              </a:lnSpc>
            </a:pPr>
            <a:r>
              <a:rPr lang="en-US" sz="5000" b="1" spc="490">
                <a:solidFill>
                  <a:srgbClr val="FFFFFF"/>
                </a:solidFill>
                <a:latin typeface="Asap Condensed Bold"/>
                <a:ea typeface="Asap Condensed Bold"/>
                <a:cs typeface="Asap Condensed Bold"/>
                <a:sym typeface="Asap Condensed Bold"/>
              </a:rPr>
              <a:t>BUSINESS UNDERSTANDING</a:t>
            </a:r>
          </a:p>
        </p:txBody>
      </p:sp>
      <p:grpSp>
        <p:nvGrpSpPr>
          <p:cNvPr id="33" name="Group 33"/>
          <p:cNvGrpSpPr/>
          <p:nvPr/>
        </p:nvGrpSpPr>
        <p:grpSpPr>
          <a:xfrm>
            <a:off x="16906354" y="5984349"/>
            <a:ext cx="705891" cy="705891"/>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35" name="TextBox 3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6" name="TextBox 36"/>
          <p:cNvSpPr txBox="1"/>
          <p:nvPr/>
        </p:nvSpPr>
        <p:spPr>
          <a:xfrm>
            <a:off x="2413653" y="4506684"/>
            <a:ext cx="4766300" cy="646430"/>
          </a:xfrm>
          <a:prstGeom prst="rect">
            <a:avLst/>
          </a:prstGeom>
        </p:spPr>
        <p:txBody>
          <a:bodyPr lIns="0" tIns="0" rIns="0" bIns="0" rtlCol="0" anchor="t">
            <a:spAutoFit/>
          </a:bodyPr>
          <a:lstStyle/>
          <a:p>
            <a:pPr marL="820421" lvl="1" indent="-410210" algn="l">
              <a:lnSpc>
                <a:spcPts val="5320"/>
              </a:lnSpc>
              <a:buFont typeface="Arial"/>
              <a:buChar char="•"/>
            </a:pPr>
            <a:r>
              <a:rPr lang="en-US" sz="3800" b="1">
                <a:solidFill>
                  <a:srgbClr val="000000"/>
                </a:solidFill>
                <a:latin typeface="Asap Condensed Bold"/>
                <a:ea typeface="Asap Condensed Bold"/>
                <a:cs typeface="Asap Condensed Bold"/>
                <a:sym typeface="Asap Condensed Bold"/>
              </a:rPr>
              <a:t>Leads</a:t>
            </a:r>
          </a:p>
        </p:txBody>
      </p:sp>
      <p:sp>
        <p:nvSpPr>
          <p:cNvPr id="37" name="TextBox 37"/>
          <p:cNvSpPr txBox="1"/>
          <p:nvPr/>
        </p:nvSpPr>
        <p:spPr>
          <a:xfrm>
            <a:off x="7231252" y="5324564"/>
            <a:ext cx="3974493" cy="1057275"/>
          </a:xfrm>
          <a:prstGeom prst="rect">
            <a:avLst/>
          </a:prstGeom>
        </p:spPr>
        <p:txBody>
          <a:bodyPr lIns="0" tIns="0" rIns="0" bIns="0" rtlCol="0" anchor="t">
            <a:spAutoFit/>
          </a:bodyPr>
          <a:lstStyle/>
          <a:p>
            <a:pPr marL="539749" lvl="1" indent="-269875" algn="l">
              <a:lnSpc>
                <a:spcPts val="2849"/>
              </a:lnSpc>
              <a:buFont typeface="Arial"/>
              <a:buChar char="•"/>
            </a:pPr>
            <a:r>
              <a:rPr lang="en-US" sz="2499" spc="54">
                <a:solidFill>
                  <a:srgbClr val="000000"/>
                </a:solidFill>
                <a:latin typeface="Dumondi Condensed"/>
                <a:ea typeface="Dumondi Condensed"/>
                <a:cs typeface="Dumondi Condensed"/>
                <a:sym typeface="Dumondi Condensed"/>
              </a:rPr>
              <a:t>All activities included in selling product or service to consumer or business</a:t>
            </a:r>
          </a:p>
        </p:txBody>
      </p:sp>
      <p:sp>
        <p:nvSpPr>
          <p:cNvPr id="38" name="TextBox 38"/>
          <p:cNvSpPr txBox="1"/>
          <p:nvPr/>
        </p:nvSpPr>
        <p:spPr>
          <a:xfrm>
            <a:off x="6760776" y="4506684"/>
            <a:ext cx="4766300" cy="646430"/>
          </a:xfrm>
          <a:prstGeom prst="rect">
            <a:avLst/>
          </a:prstGeom>
        </p:spPr>
        <p:txBody>
          <a:bodyPr lIns="0" tIns="0" rIns="0" bIns="0" rtlCol="0" anchor="t">
            <a:spAutoFit/>
          </a:bodyPr>
          <a:lstStyle/>
          <a:p>
            <a:pPr marL="820421" lvl="1" indent="-410210" algn="l">
              <a:lnSpc>
                <a:spcPts val="5320"/>
              </a:lnSpc>
              <a:buFont typeface="Arial"/>
              <a:buChar char="•"/>
            </a:pPr>
            <a:r>
              <a:rPr lang="en-US" sz="3800" b="1">
                <a:solidFill>
                  <a:srgbClr val="000000"/>
                </a:solidFill>
                <a:latin typeface="Asap Condensed Bold"/>
                <a:ea typeface="Asap Condensed Bold"/>
                <a:cs typeface="Asap Condensed Bold"/>
                <a:sym typeface="Asap Condensed Bold"/>
              </a:rPr>
              <a:t>Sales</a:t>
            </a:r>
          </a:p>
        </p:txBody>
      </p:sp>
      <p:sp>
        <p:nvSpPr>
          <p:cNvPr id="39" name="TextBox 39"/>
          <p:cNvSpPr txBox="1"/>
          <p:nvPr/>
        </p:nvSpPr>
        <p:spPr>
          <a:xfrm>
            <a:off x="11809021" y="5324564"/>
            <a:ext cx="3974493" cy="1762125"/>
          </a:xfrm>
          <a:prstGeom prst="rect">
            <a:avLst/>
          </a:prstGeom>
        </p:spPr>
        <p:txBody>
          <a:bodyPr lIns="0" tIns="0" rIns="0" bIns="0" rtlCol="0" anchor="t">
            <a:spAutoFit/>
          </a:bodyPr>
          <a:lstStyle/>
          <a:p>
            <a:pPr marL="539749" lvl="1" indent="-269875" algn="l">
              <a:lnSpc>
                <a:spcPts val="2849"/>
              </a:lnSpc>
              <a:buFont typeface="Arial"/>
              <a:buChar char="•"/>
            </a:pPr>
            <a:r>
              <a:rPr lang="en-US" sz="2499" spc="54">
                <a:solidFill>
                  <a:srgbClr val="000000"/>
                </a:solidFill>
                <a:latin typeface="Dumondi Condensed"/>
                <a:ea typeface="Dumondi Condensed"/>
                <a:cs typeface="Dumondi Condensed"/>
                <a:sym typeface="Dumondi Condensed"/>
              </a:rPr>
              <a:t>Also called “building type” which describes the type of property that is for sale.</a:t>
            </a:r>
          </a:p>
          <a:p>
            <a:pPr marL="539749" lvl="1" indent="-269875" algn="l">
              <a:lnSpc>
                <a:spcPts val="2849"/>
              </a:lnSpc>
              <a:buFont typeface="Arial"/>
              <a:buChar char="•"/>
            </a:pPr>
            <a:r>
              <a:rPr lang="en-US" sz="2499" spc="54">
                <a:solidFill>
                  <a:srgbClr val="000000"/>
                </a:solidFill>
                <a:latin typeface="Dumondi Condensed"/>
                <a:ea typeface="Dumondi Condensed"/>
                <a:cs typeface="Dumondi Condensed"/>
                <a:sym typeface="Dumondi Condensed"/>
              </a:rPr>
              <a:t>For example, Apartment, chalet, town house, and more. </a:t>
            </a:r>
          </a:p>
        </p:txBody>
      </p:sp>
      <p:sp>
        <p:nvSpPr>
          <p:cNvPr id="40" name="TextBox 40"/>
          <p:cNvSpPr txBox="1"/>
          <p:nvPr/>
        </p:nvSpPr>
        <p:spPr>
          <a:xfrm>
            <a:off x="11257044" y="4506684"/>
            <a:ext cx="4766300" cy="646430"/>
          </a:xfrm>
          <a:prstGeom prst="rect">
            <a:avLst/>
          </a:prstGeom>
        </p:spPr>
        <p:txBody>
          <a:bodyPr lIns="0" tIns="0" rIns="0" bIns="0" rtlCol="0" anchor="t">
            <a:spAutoFit/>
          </a:bodyPr>
          <a:lstStyle/>
          <a:p>
            <a:pPr marL="820421" lvl="1" indent="-410210" algn="l">
              <a:lnSpc>
                <a:spcPts val="5320"/>
              </a:lnSpc>
              <a:buFont typeface="Arial"/>
              <a:buChar char="•"/>
            </a:pPr>
            <a:r>
              <a:rPr lang="en-US" sz="3800" b="1">
                <a:solidFill>
                  <a:srgbClr val="000000"/>
                </a:solidFill>
                <a:latin typeface="Asap Condensed Bold"/>
                <a:ea typeface="Asap Condensed Bold"/>
                <a:cs typeface="Asap Condensed Bold"/>
                <a:sym typeface="Asap Condensed Bold"/>
              </a:rPr>
              <a:t>Property Types</a:t>
            </a:r>
          </a:p>
        </p:txBody>
      </p:sp>
      <p:sp>
        <p:nvSpPr>
          <p:cNvPr id="41" name="Freeform 41"/>
          <p:cNvSpPr/>
          <p:nvPr/>
        </p:nvSpPr>
        <p:spPr>
          <a:xfrm>
            <a:off x="1273656" y="1190369"/>
            <a:ext cx="1790154" cy="1145699"/>
          </a:xfrm>
          <a:custGeom>
            <a:avLst/>
            <a:gdLst/>
            <a:ahLst/>
            <a:cxnLst/>
            <a:rect l="l" t="t" r="r" b="b"/>
            <a:pathLst>
              <a:path w="1790154" h="1145699">
                <a:moveTo>
                  <a:pt x="0" y="0"/>
                </a:moveTo>
                <a:lnTo>
                  <a:pt x="1790155" y="0"/>
                </a:lnTo>
                <a:lnTo>
                  <a:pt x="1790155" y="1145698"/>
                </a:lnTo>
                <a:lnTo>
                  <a:pt x="0" y="11456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3697" y="7319270"/>
            <a:ext cx="2241710" cy="224171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0106257">
            <a:off x="494251" y="144891"/>
            <a:ext cx="3363512" cy="336351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923378" y="1617613"/>
            <a:ext cx="14441095" cy="7051773"/>
            <a:chOff x="0" y="0"/>
            <a:chExt cx="18758712" cy="9160122"/>
          </a:xfrm>
        </p:grpSpPr>
        <p:sp>
          <p:nvSpPr>
            <p:cNvPr id="9" name="Freeform 9"/>
            <p:cNvSpPr/>
            <p:nvPr/>
          </p:nvSpPr>
          <p:spPr>
            <a:xfrm>
              <a:off x="31750" y="31750"/>
              <a:ext cx="18693971" cy="9096621"/>
            </a:xfrm>
            <a:custGeom>
              <a:avLst/>
              <a:gdLst/>
              <a:ahLst/>
              <a:cxnLst/>
              <a:rect l="l" t="t" r="r" b="b"/>
              <a:pathLst>
                <a:path w="18693971" h="9096621">
                  <a:moveTo>
                    <a:pt x="18602502" y="9096621"/>
                  </a:moveTo>
                  <a:lnTo>
                    <a:pt x="92710" y="9096621"/>
                  </a:lnTo>
                  <a:cubicBezTo>
                    <a:pt x="41910" y="9096621"/>
                    <a:pt x="0" y="9054712"/>
                    <a:pt x="0" y="9003912"/>
                  </a:cubicBezTo>
                  <a:lnTo>
                    <a:pt x="0" y="92710"/>
                  </a:lnTo>
                  <a:cubicBezTo>
                    <a:pt x="0" y="41910"/>
                    <a:pt x="41910" y="0"/>
                    <a:pt x="92710" y="0"/>
                  </a:cubicBezTo>
                  <a:lnTo>
                    <a:pt x="18601232" y="0"/>
                  </a:lnTo>
                  <a:cubicBezTo>
                    <a:pt x="18652032" y="0"/>
                    <a:pt x="18693943" y="41910"/>
                    <a:pt x="18693943" y="92710"/>
                  </a:cubicBezTo>
                  <a:lnTo>
                    <a:pt x="18693943" y="9002642"/>
                  </a:lnTo>
                  <a:cubicBezTo>
                    <a:pt x="18695212" y="9054712"/>
                    <a:pt x="18653302" y="9096621"/>
                    <a:pt x="18602502" y="9096621"/>
                  </a:cubicBezTo>
                  <a:close/>
                </a:path>
              </a:pathLst>
            </a:custGeom>
            <a:solidFill>
              <a:srgbClr val="FFFFFF"/>
            </a:solidFill>
          </p:spPr>
          <p:txBody>
            <a:bodyPr/>
            <a:lstStyle/>
            <a:p>
              <a:endParaRPr lang="en-US"/>
            </a:p>
          </p:txBody>
        </p:sp>
        <p:sp>
          <p:nvSpPr>
            <p:cNvPr id="10" name="Freeform 10"/>
            <p:cNvSpPr/>
            <p:nvPr/>
          </p:nvSpPr>
          <p:spPr>
            <a:xfrm>
              <a:off x="0" y="0"/>
              <a:ext cx="18758712" cy="9160121"/>
            </a:xfrm>
            <a:custGeom>
              <a:avLst/>
              <a:gdLst/>
              <a:ahLst/>
              <a:cxnLst/>
              <a:rect l="l" t="t" r="r" b="b"/>
              <a:pathLst>
                <a:path w="18758712" h="9160121">
                  <a:moveTo>
                    <a:pt x="18634252" y="59690"/>
                  </a:moveTo>
                  <a:cubicBezTo>
                    <a:pt x="18669812" y="59690"/>
                    <a:pt x="18699021" y="88900"/>
                    <a:pt x="18699021" y="124460"/>
                  </a:cubicBezTo>
                  <a:lnTo>
                    <a:pt x="18699021" y="9035662"/>
                  </a:lnTo>
                  <a:cubicBezTo>
                    <a:pt x="18699021" y="9071221"/>
                    <a:pt x="18669812" y="9100431"/>
                    <a:pt x="18634252" y="9100431"/>
                  </a:cubicBezTo>
                  <a:lnTo>
                    <a:pt x="124460" y="9100431"/>
                  </a:lnTo>
                  <a:cubicBezTo>
                    <a:pt x="88900" y="9100431"/>
                    <a:pt x="59690" y="9071221"/>
                    <a:pt x="59690" y="9035662"/>
                  </a:cubicBezTo>
                  <a:lnTo>
                    <a:pt x="59690" y="124460"/>
                  </a:lnTo>
                  <a:cubicBezTo>
                    <a:pt x="59690" y="88900"/>
                    <a:pt x="88900" y="59690"/>
                    <a:pt x="124460" y="59690"/>
                  </a:cubicBezTo>
                  <a:lnTo>
                    <a:pt x="18634252" y="59690"/>
                  </a:lnTo>
                  <a:moveTo>
                    <a:pt x="18634252" y="0"/>
                  </a:moveTo>
                  <a:lnTo>
                    <a:pt x="124460" y="0"/>
                  </a:lnTo>
                  <a:cubicBezTo>
                    <a:pt x="55880" y="0"/>
                    <a:pt x="0" y="55880"/>
                    <a:pt x="0" y="124460"/>
                  </a:cubicBezTo>
                  <a:lnTo>
                    <a:pt x="0" y="9035662"/>
                  </a:lnTo>
                  <a:cubicBezTo>
                    <a:pt x="0" y="9104242"/>
                    <a:pt x="55880" y="9160121"/>
                    <a:pt x="124460" y="9160121"/>
                  </a:cubicBezTo>
                  <a:lnTo>
                    <a:pt x="18634252" y="9160121"/>
                  </a:lnTo>
                  <a:cubicBezTo>
                    <a:pt x="18702832" y="9160121"/>
                    <a:pt x="18758712" y="9104242"/>
                    <a:pt x="18758712" y="9035662"/>
                  </a:cubicBezTo>
                  <a:lnTo>
                    <a:pt x="18758712" y="124460"/>
                  </a:lnTo>
                  <a:cubicBezTo>
                    <a:pt x="18758712" y="55880"/>
                    <a:pt x="18702832" y="0"/>
                    <a:pt x="18634252" y="0"/>
                  </a:cubicBezTo>
                  <a:close/>
                </a:path>
              </a:pathLst>
            </a:custGeom>
            <a:solidFill>
              <a:srgbClr val="191919"/>
            </a:solidFill>
          </p:spPr>
          <p:txBody>
            <a:bodyPr/>
            <a:lstStyle/>
            <a:p>
              <a:endParaRPr lang="en-US"/>
            </a:p>
          </p:txBody>
        </p:sp>
      </p:grpSp>
      <p:grpSp>
        <p:nvGrpSpPr>
          <p:cNvPr id="11" name="Group 11"/>
          <p:cNvGrpSpPr/>
          <p:nvPr/>
        </p:nvGrpSpPr>
        <p:grpSpPr>
          <a:xfrm>
            <a:off x="14588821" y="2015000"/>
            <a:ext cx="1154593" cy="321067"/>
            <a:chOff x="0" y="0"/>
            <a:chExt cx="1539457" cy="428090"/>
          </a:xfrm>
        </p:grpSpPr>
        <p:grpSp>
          <p:nvGrpSpPr>
            <p:cNvPr id="12" name="Group 12"/>
            <p:cNvGrpSpPr/>
            <p:nvPr/>
          </p:nvGrpSpPr>
          <p:grpSpPr>
            <a:xfrm>
              <a:off x="0" y="0"/>
              <a:ext cx="428090" cy="42809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556206" y="0"/>
              <a:ext cx="428090" cy="42809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111367" y="0"/>
              <a:ext cx="428090" cy="42809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21" name="AutoShape 21"/>
          <p:cNvSpPr/>
          <p:nvPr/>
        </p:nvSpPr>
        <p:spPr>
          <a:xfrm>
            <a:off x="1923418" y="2612293"/>
            <a:ext cx="14441095" cy="23812"/>
          </a:xfrm>
          <a:prstGeom prst="line">
            <a:avLst/>
          </a:prstGeom>
          <a:ln w="47625" cap="flat">
            <a:solidFill>
              <a:srgbClr val="000000"/>
            </a:solidFill>
            <a:prstDash val="solid"/>
            <a:headEnd type="none" w="sm" len="sm"/>
            <a:tailEnd type="none" w="sm" len="sm"/>
          </a:ln>
        </p:spPr>
        <p:txBody>
          <a:bodyPr/>
          <a:lstStyle/>
          <a:p>
            <a:endParaRPr lang="en-US"/>
          </a:p>
        </p:txBody>
      </p:sp>
      <p:grpSp>
        <p:nvGrpSpPr>
          <p:cNvPr id="22" name="Group 22"/>
          <p:cNvGrpSpPr/>
          <p:nvPr/>
        </p:nvGrpSpPr>
        <p:grpSpPr>
          <a:xfrm>
            <a:off x="3419151" y="8537118"/>
            <a:ext cx="1023862" cy="1023862"/>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rot="-10106257">
            <a:off x="4857745" y="690402"/>
            <a:ext cx="676596" cy="676596"/>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987438" y="7593839"/>
            <a:ext cx="3629641" cy="3629641"/>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3931082" y="5289545"/>
            <a:ext cx="3974493" cy="2114550"/>
          </a:xfrm>
          <a:prstGeom prst="rect">
            <a:avLst/>
          </a:prstGeom>
        </p:spPr>
        <p:txBody>
          <a:bodyPr lIns="0" tIns="0" rIns="0" bIns="0" rtlCol="0" anchor="t">
            <a:spAutoFit/>
          </a:bodyPr>
          <a:lstStyle/>
          <a:p>
            <a:pPr marL="539749" lvl="1" indent="-269875" algn="l">
              <a:lnSpc>
                <a:spcPts val="2849"/>
              </a:lnSpc>
              <a:buFont typeface="Arial"/>
              <a:buChar char="•"/>
            </a:pPr>
            <a:r>
              <a:rPr lang="en-US" sz="2499" spc="54">
                <a:solidFill>
                  <a:srgbClr val="000000"/>
                </a:solidFill>
                <a:latin typeface="Dumondi Condensed"/>
                <a:ea typeface="Dumondi Condensed"/>
                <a:cs typeface="Dumondi Condensed"/>
                <a:sym typeface="Dumondi Condensed"/>
              </a:rPr>
              <a:t>Types of potential customers who show interest in buying property.</a:t>
            </a:r>
          </a:p>
          <a:p>
            <a:pPr marL="539749" lvl="1" indent="-269875" algn="l">
              <a:lnSpc>
                <a:spcPts val="2849"/>
              </a:lnSpc>
              <a:buFont typeface="Arial"/>
              <a:buChar char="•"/>
            </a:pPr>
            <a:r>
              <a:rPr lang="en-US" sz="2499" spc="54">
                <a:solidFill>
                  <a:srgbClr val="000000"/>
                </a:solidFill>
                <a:latin typeface="Dumondi Condensed"/>
                <a:ea typeface="Dumondi Condensed"/>
                <a:cs typeface="Dumondi Condensed"/>
                <a:sym typeface="Dumondi Condensed"/>
              </a:rPr>
              <a:t>They are classified into different categories such as primary, resale buyers, seller, and more.</a:t>
            </a:r>
          </a:p>
        </p:txBody>
      </p:sp>
      <p:sp>
        <p:nvSpPr>
          <p:cNvPr id="32" name="TextBox 32"/>
          <p:cNvSpPr txBox="1"/>
          <p:nvPr/>
        </p:nvSpPr>
        <p:spPr>
          <a:xfrm>
            <a:off x="2642203" y="3219343"/>
            <a:ext cx="13101211" cy="873125"/>
          </a:xfrm>
          <a:prstGeom prst="rect">
            <a:avLst/>
          </a:prstGeom>
        </p:spPr>
        <p:txBody>
          <a:bodyPr lIns="0" tIns="0" rIns="0" bIns="0" rtlCol="0" anchor="t">
            <a:spAutoFit/>
          </a:bodyPr>
          <a:lstStyle/>
          <a:p>
            <a:pPr algn="ctr">
              <a:lnSpc>
                <a:spcPts val="7000"/>
              </a:lnSpc>
            </a:pPr>
            <a:r>
              <a:rPr lang="en-US" sz="5000" b="1" spc="490">
                <a:solidFill>
                  <a:srgbClr val="FFFFFF"/>
                </a:solidFill>
                <a:latin typeface="Asap Condensed Bold"/>
                <a:ea typeface="Asap Condensed Bold"/>
                <a:cs typeface="Asap Condensed Bold"/>
                <a:sym typeface="Asap Condensed Bold"/>
              </a:rPr>
              <a:t>BUSINESS UNDERSTANDING</a:t>
            </a:r>
          </a:p>
        </p:txBody>
      </p:sp>
      <p:grpSp>
        <p:nvGrpSpPr>
          <p:cNvPr id="33" name="Group 33"/>
          <p:cNvGrpSpPr/>
          <p:nvPr/>
        </p:nvGrpSpPr>
        <p:grpSpPr>
          <a:xfrm>
            <a:off x="16906354" y="5984349"/>
            <a:ext cx="705891" cy="705891"/>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35" name="TextBox 3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6" name="TextBox 36"/>
          <p:cNvSpPr txBox="1"/>
          <p:nvPr/>
        </p:nvSpPr>
        <p:spPr>
          <a:xfrm>
            <a:off x="3419151" y="4497070"/>
            <a:ext cx="4766300" cy="646430"/>
          </a:xfrm>
          <a:prstGeom prst="rect">
            <a:avLst/>
          </a:prstGeom>
        </p:spPr>
        <p:txBody>
          <a:bodyPr lIns="0" tIns="0" rIns="0" bIns="0" rtlCol="0" anchor="t">
            <a:spAutoFit/>
          </a:bodyPr>
          <a:lstStyle/>
          <a:p>
            <a:pPr marL="820421" lvl="1" indent="-410210" algn="l">
              <a:lnSpc>
                <a:spcPts val="5320"/>
              </a:lnSpc>
              <a:buFont typeface="Arial"/>
              <a:buChar char="•"/>
            </a:pPr>
            <a:r>
              <a:rPr lang="en-US" sz="3800" b="1">
                <a:solidFill>
                  <a:srgbClr val="000000"/>
                </a:solidFill>
                <a:latin typeface="Asap Condensed Bold"/>
                <a:ea typeface="Asap Condensed Bold"/>
                <a:cs typeface="Asap Condensed Bold"/>
                <a:sym typeface="Asap Condensed Bold"/>
              </a:rPr>
              <a:t>Lead Types</a:t>
            </a:r>
          </a:p>
        </p:txBody>
      </p:sp>
      <p:sp>
        <p:nvSpPr>
          <p:cNvPr id="37" name="TextBox 37"/>
          <p:cNvSpPr txBox="1"/>
          <p:nvPr/>
        </p:nvSpPr>
        <p:spPr>
          <a:xfrm>
            <a:off x="10418718" y="5280020"/>
            <a:ext cx="3974493" cy="2114550"/>
          </a:xfrm>
          <a:prstGeom prst="rect">
            <a:avLst/>
          </a:prstGeom>
        </p:spPr>
        <p:txBody>
          <a:bodyPr lIns="0" tIns="0" rIns="0" bIns="0" rtlCol="0" anchor="t">
            <a:spAutoFit/>
          </a:bodyPr>
          <a:lstStyle/>
          <a:p>
            <a:pPr marL="539749" lvl="1" indent="-269875" algn="l">
              <a:lnSpc>
                <a:spcPts val="2849"/>
              </a:lnSpc>
              <a:buFont typeface="Arial"/>
              <a:buChar char="•"/>
            </a:pPr>
            <a:r>
              <a:rPr lang="en-US" sz="2499" spc="54">
                <a:solidFill>
                  <a:srgbClr val="000000"/>
                </a:solidFill>
                <a:latin typeface="Dumondi Condensed"/>
                <a:ea typeface="Dumondi Condensed"/>
                <a:cs typeface="Dumondi Condensed"/>
                <a:sym typeface="Dumondi Condensed"/>
              </a:rPr>
              <a:t>As mentioned earlier, the generation of leads has different sources.</a:t>
            </a:r>
          </a:p>
          <a:p>
            <a:pPr marL="539749" lvl="1" indent="-269875" algn="l">
              <a:lnSpc>
                <a:spcPts val="2849"/>
              </a:lnSpc>
              <a:buFont typeface="Arial"/>
              <a:buChar char="•"/>
            </a:pPr>
            <a:r>
              <a:rPr lang="en-US" sz="2499" spc="54">
                <a:solidFill>
                  <a:srgbClr val="000000"/>
                </a:solidFill>
                <a:latin typeface="Dumondi Condensed"/>
                <a:ea typeface="Dumondi Condensed"/>
                <a:cs typeface="Dumondi Condensed"/>
                <a:sym typeface="Dumondi Condensed"/>
              </a:rPr>
              <a:t>In our case lead sources can be Facebook, Google, phone, real estate application, and others.</a:t>
            </a:r>
          </a:p>
        </p:txBody>
      </p:sp>
      <p:sp>
        <p:nvSpPr>
          <p:cNvPr id="38" name="TextBox 38"/>
          <p:cNvSpPr txBox="1"/>
          <p:nvPr/>
        </p:nvSpPr>
        <p:spPr>
          <a:xfrm>
            <a:off x="9822521" y="4497070"/>
            <a:ext cx="4766300" cy="646430"/>
          </a:xfrm>
          <a:prstGeom prst="rect">
            <a:avLst/>
          </a:prstGeom>
        </p:spPr>
        <p:txBody>
          <a:bodyPr lIns="0" tIns="0" rIns="0" bIns="0" rtlCol="0" anchor="t">
            <a:spAutoFit/>
          </a:bodyPr>
          <a:lstStyle/>
          <a:p>
            <a:pPr marL="820421" lvl="1" indent="-410210" algn="l">
              <a:lnSpc>
                <a:spcPts val="5320"/>
              </a:lnSpc>
              <a:buFont typeface="Arial"/>
              <a:buChar char="•"/>
            </a:pPr>
            <a:r>
              <a:rPr lang="en-US" sz="3800" b="1">
                <a:solidFill>
                  <a:srgbClr val="000000"/>
                </a:solidFill>
                <a:latin typeface="Asap Condensed Bold"/>
                <a:ea typeface="Asap Condensed Bold"/>
                <a:cs typeface="Asap Condensed Bold"/>
                <a:sym typeface="Asap Condensed Bold"/>
              </a:rPr>
              <a:t>Lead Sources</a:t>
            </a:r>
          </a:p>
        </p:txBody>
      </p:sp>
      <p:sp>
        <p:nvSpPr>
          <p:cNvPr id="39" name="Freeform 39"/>
          <p:cNvSpPr/>
          <p:nvPr/>
        </p:nvSpPr>
        <p:spPr>
          <a:xfrm>
            <a:off x="1273656" y="1190369"/>
            <a:ext cx="1790154" cy="1145699"/>
          </a:xfrm>
          <a:custGeom>
            <a:avLst/>
            <a:gdLst/>
            <a:ahLst/>
            <a:cxnLst/>
            <a:rect l="l" t="t" r="r" b="b"/>
            <a:pathLst>
              <a:path w="1790154" h="1145699">
                <a:moveTo>
                  <a:pt x="0" y="0"/>
                </a:moveTo>
                <a:lnTo>
                  <a:pt x="1790155" y="0"/>
                </a:lnTo>
                <a:lnTo>
                  <a:pt x="1790155" y="1145698"/>
                </a:lnTo>
                <a:lnTo>
                  <a:pt x="0" y="11456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8068"/>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8229600"/>
            <a:chOff x="0" y="0"/>
            <a:chExt cx="21083246" cy="10690097"/>
          </a:xfrm>
        </p:grpSpPr>
        <p:sp>
          <p:nvSpPr>
            <p:cNvPr id="3" name="Freeform 3"/>
            <p:cNvSpPr/>
            <p:nvPr/>
          </p:nvSpPr>
          <p:spPr>
            <a:xfrm>
              <a:off x="31750" y="31750"/>
              <a:ext cx="21018505" cy="10626596"/>
            </a:xfrm>
            <a:custGeom>
              <a:avLst/>
              <a:gdLst/>
              <a:ahLst/>
              <a:cxnLst/>
              <a:rect l="l" t="t" r="r" b="b"/>
              <a:pathLst>
                <a:path w="21018505" h="10626596">
                  <a:moveTo>
                    <a:pt x="20927036" y="10626596"/>
                  </a:moveTo>
                  <a:lnTo>
                    <a:pt x="92710" y="10626596"/>
                  </a:lnTo>
                  <a:cubicBezTo>
                    <a:pt x="41910" y="10626596"/>
                    <a:pt x="0" y="10584686"/>
                    <a:pt x="0" y="10533886"/>
                  </a:cubicBezTo>
                  <a:lnTo>
                    <a:pt x="0" y="92710"/>
                  </a:lnTo>
                  <a:cubicBezTo>
                    <a:pt x="0" y="41910"/>
                    <a:pt x="41910" y="0"/>
                    <a:pt x="92710" y="0"/>
                  </a:cubicBezTo>
                  <a:lnTo>
                    <a:pt x="20925766" y="0"/>
                  </a:lnTo>
                  <a:cubicBezTo>
                    <a:pt x="20976566" y="0"/>
                    <a:pt x="21018477" y="41910"/>
                    <a:pt x="21018477" y="92710"/>
                  </a:cubicBezTo>
                  <a:lnTo>
                    <a:pt x="21018477" y="10532617"/>
                  </a:lnTo>
                  <a:cubicBezTo>
                    <a:pt x="21019746" y="10584686"/>
                    <a:pt x="20977836" y="10626596"/>
                    <a:pt x="20927036" y="10626596"/>
                  </a:cubicBezTo>
                  <a:close/>
                </a:path>
              </a:pathLst>
            </a:custGeom>
            <a:solidFill>
              <a:srgbClr val="FFFFFF"/>
            </a:solidFill>
          </p:spPr>
          <p:txBody>
            <a:bodyPr/>
            <a:lstStyle/>
            <a:p>
              <a:endParaRPr lang="en-US"/>
            </a:p>
          </p:txBody>
        </p:sp>
        <p:sp>
          <p:nvSpPr>
            <p:cNvPr id="4" name="Freeform 4"/>
            <p:cNvSpPr/>
            <p:nvPr/>
          </p:nvSpPr>
          <p:spPr>
            <a:xfrm>
              <a:off x="0" y="0"/>
              <a:ext cx="21083246" cy="10690096"/>
            </a:xfrm>
            <a:custGeom>
              <a:avLst/>
              <a:gdLst/>
              <a:ahLst/>
              <a:cxnLst/>
              <a:rect l="l" t="t" r="r" b="b"/>
              <a:pathLst>
                <a:path w="21083246" h="10690096">
                  <a:moveTo>
                    <a:pt x="20958786" y="59690"/>
                  </a:moveTo>
                  <a:cubicBezTo>
                    <a:pt x="20994346" y="59690"/>
                    <a:pt x="21023556" y="88900"/>
                    <a:pt x="21023556" y="124460"/>
                  </a:cubicBezTo>
                  <a:lnTo>
                    <a:pt x="21023556" y="10565636"/>
                  </a:lnTo>
                  <a:cubicBezTo>
                    <a:pt x="21023556" y="10601196"/>
                    <a:pt x="20994346" y="10630406"/>
                    <a:pt x="20958786" y="10630406"/>
                  </a:cubicBezTo>
                  <a:lnTo>
                    <a:pt x="124460" y="10630406"/>
                  </a:lnTo>
                  <a:cubicBezTo>
                    <a:pt x="88900" y="10630406"/>
                    <a:pt x="59690" y="10601196"/>
                    <a:pt x="59690" y="10565636"/>
                  </a:cubicBezTo>
                  <a:lnTo>
                    <a:pt x="59690" y="124460"/>
                  </a:lnTo>
                  <a:cubicBezTo>
                    <a:pt x="59690" y="88900"/>
                    <a:pt x="88900" y="59690"/>
                    <a:pt x="124460" y="59690"/>
                  </a:cubicBezTo>
                  <a:lnTo>
                    <a:pt x="20958786" y="59690"/>
                  </a:lnTo>
                  <a:moveTo>
                    <a:pt x="20958786" y="0"/>
                  </a:moveTo>
                  <a:lnTo>
                    <a:pt x="124460" y="0"/>
                  </a:lnTo>
                  <a:cubicBezTo>
                    <a:pt x="55880" y="0"/>
                    <a:pt x="0" y="55880"/>
                    <a:pt x="0" y="124460"/>
                  </a:cubicBezTo>
                  <a:lnTo>
                    <a:pt x="0" y="10565636"/>
                  </a:lnTo>
                  <a:cubicBezTo>
                    <a:pt x="0" y="10634217"/>
                    <a:pt x="55880" y="10690096"/>
                    <a:pt x="124460" y="10690096"/>
                  </a:cubicBezTo>
                  <a:lnTo>
                    <a:pt x="20958786" y="10690096"/>
                  </a:lnTo>
                  <a:cubicBezTo>
                    <a:pt x="21027366" y="10690096"/>
                    <a:pt x="21083246" y="10634217"/>
                    <a:pt x="21083246" y="10565636"/>
                  </a:cubicBezTo>
                  <a:lnTo>
                    <a:pt x="21083246" y="124460"/>
                  </a:lnTo>
                  <a:cubicBezTo>
                    <a:pt x="21083246" y="55880"/>
                    <a:pt x="21027366" y="0"/>
                    <a:pt x="20958786" y="0"/>
                  </a:cubicBezTo>
                  <a:close/>
                </a:path>
              </a:pathLst>
            </a:custGeom>
            <a:solidFill>
              <a:srgbClr val="191919"/>
            </a:solidFill>
          </p:spPr>
          <p:txBody>
            <a:bodyPr/>
            <a:lstStyle/>
            <a:p>
              <a:endParaRPr lang="en-US"/>
            </a:p>
          </p:txBody>
        </p:sp>
      </p:grpSp>
      <p:grpSp>
        <p:nvGrpSpPr>
          <p:cNvPr id="5" name="Group 5"/>
          <p:cNvGrpSpPr/>
          <p:nvPr/>
        </p:nvGrpSpPr>
        <p:grpSpPr>
          <a:xfrm>
            <a:off x="15207137" y="1316799"/>
            <a:ext cx="1670088" cy="464416"/>
            <a:chOff x="0" y="0"/>
            <a:chExt cx="2226784" cy="619221"/>
          </a:xfrm>
        </p:grpSpPr>
        <p:grpSp>
          <p:nvGrpSpPr>
            <p:cNvPr id="6" name="Group 6"/>
            <p:cNvGrpSpPr/>
            <p:nvPr/>
          </p:nvGrpSpPr>
          <p:grpSpPr>
            <a:xfrm>
              <a:off x="0" y="0"/>
              <a:ext cx="619221" cy="61922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804538" y="0"/>
              <a:ext cx="619221" cy="61922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07563" y="0"/>
              <a:ext cx="619221" cy="61922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15" name="TextBox 15"/>
          <p:cNvSpPr txBox="1"/>
          <p:nvPr/>
        </p:nvSpPr>
        <p:spPr>
          <a:xfrm>
            <a:off x="8443620" y="2970655"/>
            <a:ext cx="7973164" cy="3644284"/>
          </a:xfrm>
          <a:prstGeom prst="rect">
            <a:avLst/>
          </a:prstGeom>
        </p:spPr>
        <p:txBody>
          <a:bodyPr lIns="0" tIns="0" rIns="0" bIns="0" rtlCol="0" anchor="t">
            <a:spAutoFit/>
          </a:bodyPr>
          <a:lstStyle/>
          <a:p>
            <a:pPr algn="r">
              <a:lnSpc>
                <a:spcPts val="9405"/>
              </a:lnSpc>
            </a:pPr>
            <a:r>
              <a:rPr lang="en-US" sz="9500" b="1">
                <a:solidFill>
                  <a:srgbClr val="000000"/>
                </a:solidFill>
                <a:latin typeface="Asap Condensed Bold"/>
                <a:ea typeface="Asap Condensed Bold"/>
                <a:cs typeface="Asap Condensed Bold"/>
                <a:sym typeface="Asap Condensed Bold"/>
              </a:rPr>
              <a:t>DATA INSPECTION AND PREPROCESSING</a:t>
            </a:r>
          </a:p>
        </p:txBody>
      </p:sp>
      <p:sp>
        <p:nvSpPr>
          <p:cNvPr id="16" name="AutoShape 16"/>
          <p:cNvSpPr/>
          <p:nvPr/>
        </p:nvSpPr>
        <p:spPr>
          <a:xfrm>
            <a:off x="1028700" y="2005522"/>
            <a:ext cx="16230600" cy="0"/>
          </a:xfrm>
          <a:prstGeom prst="line">
            <a:avLst/>
          </a:prstGeom>
          <a:ln w="47625" cap="flat">
            <a:solidFill>
              <a:srgbClr val="000000"/>
            </a:solidFill>
            <a:prstDash val="solid"/>
            <a:headEnd type="none" w="sm" len="sm"/>
            <a:tailEnd type="none" w="sm" len="sm"/>
          </a:ln>
        </p:spPr>
        <p:txBody>
          <a:bodyPr/>
          <a:lstStyle/>
          <a:p>
            <a:endParaRPr lang="en-US"/>
          </a:p>
        </p:txBody>
      </p:sp>
      <p:pic>
        <p:nvPicPr>
          <p:cNvPr id="17" name="Picture 17"/>
          <p:cNvPicPr>
            <a:picLocks noChangeAspect="1"/>
          </p:cNvPicPr>
          <p:nvPr/>
        </p:nvPicPr>
        <p:blipFill>
          <a:blip r:embed="rId2"/>
          <a:srcRect/>
          <a:stretch>
            <a:fillRect/>
          </a:stretch>
        </p:blipFill>
        <p:spPr>
          <a:xfrm>
            <a:off x="1759396" y="1316799"/>
            <a:ext cx="7598650" cy="130341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04505" y="382412"/>
            <a:ext cx="2896113" cy="289611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923378" y="1617613"/>
            <a:ext cx="14441095" cy="7358746"/>
            <a:chOff x="0" y="0"/>
            <a:chExt cx="18758712" cy="9558874"/>
          </a:xfrm>
        </p:grpSpPr>
        <p:sp>
          <p:nvSpPr>
            <p:cNvPr id="6" name="Freeform 6"/>
            <p:cNvSpPr/>
            <p:nvPr/>
          </p:nvSpPr>
          <p:spPr>
            <a:xfrm>
              <a:off x="31750" y="31750"/>
              <a:ext cx="18693971" cy="9495374"/>
            </a:xfrm>
            <a:custGeom>
              <a:avLst/>
              <a:gdLst/>
              <a:ahLst/>
              <a:cxnLst/>
              <a:rect l="l" t="t" r="r" b="b"/>
              <a:pathLst>
                <a:path w="18693971" h="9495374">
                  <a:moveTo>
                    <a:pt x="18602502" y="9495374"/>
                  </a:moveTo>
                  <a:lnTo>
                    <a:pt x="92710" y="9495374"/>
                  </a:lnTo>
                  <a:cubicBezTo>
                    <a:pt x="41910" y="9495374"/>
                    <a:pt x="0" y="9453463"/>
                    <a:pt x="0" y="9402663"/>
                  </a:cubicBezTo>
                  <a:lnTo>
                    <a:pt x="0" y="92710"/>
                  </a:lnTo>
                  <a:cubicBezTo>
                    <a:pt x="0" y="41910"/>
                    <a:pt x="41910" y="0"/>
                    <a:pt x="92710" y="0"/>
                  </a:cubicBezTo>
                  <a:lnTo>
                    <a:pt x="18601232" y="0"/>
                  </a:lnTo>
                  <a:cubicBezTo>
                    <a:pt x="18652032" y="0"/>
                    <a:pt x="18693943" y="41910"/>
                    <a:pt x="18693943" y="92710"/>
                  </a:cubicBezTo>
                  <a:lnTo>
                    <a:pt x="18693943" y="9401394"/>
                  </a:lnTo>
                  <a:cubicBezTo>
                    <a:pt x="18695212" y="9453463"/>
                    <a:pt x="18653302" y="9495374"/>
                    <a:pt x="18602502" y="9495374"/>
                  </a:cubicBezTo>
                  <a:close/>
                </a:path>
              </a:pathLst>
            </a:custGeom>
            <a:solidFill>
              <a:srgbClr val="FFFFFF"/>
            </a:solidFill>
          </p:spPr>
          <p:txBody>
            <a:bodyPr/>
            <a:lstStyle/>
            <a:p>
              <a:endParaRPr lang="en-US"/>
            </a:p>
          </p:txBody>
        </p:sp>
        <p:sp>
          <p:nvSpPr>
            <p:cNvPr id="7" name="Freeform 7"/>
            <p:cNvSpPr/>
            <p:nvPr/>
          </p:nvSpPr>
          <p:spPr>
            <a:xfrm>
              <a:off x="0" y="0"/>
              <a:ext cx="18758712" cy="9558874"/>
            </a:xfrm>
            <a:custGeom>
              <a:avLst/>
              <a:gdLst/>
              <a:ahLst/>
              <a:cxnLst/>
              <a:rect l="l" t="t" r="r" b="b"/>
              <a:pathLst>
                <a:path w="18758712" h="9558874">
                  <a:moveTo>
                    <a:pt x="18634252" y="59690"/>
                  </a:moveTo>
                  <a:cubicBezTo>
                    <a:pt x="18669812" y="59690"/>
                    <a:pt x="18699021" y="88900"/>
                    <a:pt x="18699021" y="124460"/>
                  </a:cubicBezTo>
                  <a:lnTo>
                    <a:pt x="18699021" y="9434414"/>
                  </a:lnTo>
                  <a:cubicBezTo>
                    <a:pt x="18699021" y="9469974"/>
                    <a:pt x="18669812" y="9499184"/>
                    <a:pt x="18634252" y="9499184"/>
                  </a:cubicBezTo>
                  <a:lnTo>
                    <a:pt x="124460" y="9499184"/>
                  </a:lnTo>
                  <a:cubicBezTo>
                    <a:pt x="88900" y="9499184"/>
                    <a:pt x="59690" y="9469974"/>
                    <a:pt x="59690" y="9434414"/>
                  </a:cubicBezTo>
                  <a:lnTo>
                    <a:pt x="59690" y="124460"/>
                  </a:lnTo>
                  <a:cubicBezTo>
                    <a:pt x="59690" y="88900"/>
                    <a:pt x="88900" y="59690"/>
                    <a:pt x="124460" y="59690"/>
                  </a:cubicBezTo>
                  <a:lnTo>
                    <a:pt x="18634252" y="59690"/>
                  </a:lnTo>
                  <a:moveTo>
                    <a:pt x="18634252" y="0"/>
                  </a:moveTo>
                  <a:lnTo>
                    <a:pt x="124460" y="0"/>
                  </a:lnTo>
                  <a:cubicBezTo>
                    <a:pt x="55880" y="0"/>
                    <a:pt x="0" y="55880"/>
                    <a:pt x="0" y="124460"/>
                  </a:cubicBezTo>
                  <a:lnTo>
                    <a:pt x="0" y="9434414"/>
                  </a:lnTo>
                  <a:cubicBezTo>
                    <a:pt x="0" y="9502994"/>
                    <a:pt x="55880" y="9558874"/>
                    <a:pt x="124460" y="9558874"/>
                  </a:cubicBezTo>
                  <a:lnTo>
                    <a:pt x="18634252" y="9558874"/>
                  </a:lnTo>
                  <a:cubicBezTo>
                    <a:pt x="18702832" y="9558874"/>
                    <a:pt x="18758712" y="9502994"/>
                    <a:pt x="18758712" y="9434414"/>
                  </a:cubicBezTo>
                  <a:lnTo>
                    <a:pt x="18758712" y="124460"/>
                  </a:lnTo>
                  <a:cubicBezTo>
                    <a:pt x="18758712" y="55880"/>
                    <a:pt x="18702832" y="0"/>
                    <a:pt x="18634252" y="0"/>
                  </a:cubicBezTo>
                  <a:close/>
                </a:path>
              </a:pathLst>
            </a:custGeom>
            <a:solidFill>
              <a:srgbClr val="191919"/>
            </a:solidFill>
          </p:spPr>
          <p:txBody>
            <a:bodyPr/>
            <a:lstStyle/>
            <a:p>
              <a:endParaRPr lang="en-US"/>
            </a:p>
          </p:txBody>
        </p:sp>
      </p:grpSp>
      <p:grpSp>
        <p:nvGrpSpPr>
          <p:cNvPr id="8" name="Group 8"/>
          <p:cNvGrpSpPr/>
          <p:nvPr/>
        </p:nvGrpSpPr>
        <p:grpSpPr>
          <a:xfrm>
            <a:off x="14588821" y="2015000"/>
            <a:ext cx="1154593" cy="321067"/>
            <a:chOff x="0" y="0"/>
            <a:chExt cx="1539457" cy="428090"/>
          </a:xfrm>
        </p:grpSpPr>
        <p:grpSp>
          <p:nvGrpSpPr>
            <p:cNvPr id="9" name="Group 9"/>
            <p:cNvGrpSpPr/>
            <p:nvPr/>
          </p:nvGrpSpPr>
          <p:grpSpPr>
            <a:xfrm>
              <a:off x="0" y="0"/>
              <a:ext cx="428090" cy="42809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556206" y="0"/>
              <a:ext cx="428090" cy="42809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1367" y="0"/>
              <a:ext cx="428090" cy="42809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18" name="AutoShape 18"/>
          <p:cNvSpPr/>
          <p:nvPr/>
        </p:nvSpPr>
        <p:spPr>
          <a:xfrm>
            <a:off x="1923418" y="2612293"/>
            <a:ext cx="14441095" cy="23812"/>
          </a:xfrm>
          <a:prstGeom prst="line">
            <a:avLst/>
          </a:prstGeom>
          <a:ln w="47625" cap="flat">
            <a:solidFill>
              <a:srgbClr val="000000"/>
            </a:solidFill>
            <a:prstDash val="solid"/>
            <a:headEnd type="none" w="sm" len="sm"/>
            <a:tailEnd type="none" w="sm" len="sm"/>
          </a:ln>
        </p:spPr>
        <p:txBody>
          <a:bodyPr/>
          <a:lstStyle/>
          <a:p>
            <a:endParaRPr lang="en-US"/>
          </a:p>
        </p:txBody>
      </p:sp>
      <p:grpSp>
        <p:nvGrpSpPr>
          <p:cNvPr id="19" name="Group 19"/>
          <p:cNvGrpSpPr/>
          <p:nvPr/>
        </p:nvGrpSpPr>
        <p:grpSpPr>
          <a:xfrm>
            <a:off x="1028700" y="3912925"/>
            <a:ext cx="1023862" cy="1023862"/>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rot="-10106257">
            <a:off x="15429887" y="7635812"/>
            <a:ext cx="2067149" cy="2067149"/>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8068"/>
            </a:solidFill>
          </p:spPr>
          <p:txBody>
            <a:bodyPr/>
            <a:lstStyle/>
            <a:p>
              <a:endParaRPr lang="en-US"/>
            </a:p>
          </p:txBody>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2270605" y="2459893"/>
            <a:ext cx="7747940" cy="1318894"/>
          </a:xfrm>
          <a:prstGeom prst="rect">
            <a:avLst/>
          </a:prstGeom>
        </p:spPr>
        <p:txBody>
          <a:bodyPr lIns="0" tIns="0" rIns="0" bIns="0" rtlCol="0" anchor="t">
            <a:spAutoFit/>
          </a:bodyPr>
          <a:lstStyle/>
          <a:p>
            <a:pPr algn="just">
              <a:lnSpc>
                <a:spcPts val="10780"/>
              </a:lnSpc>
              <a:spcBef>
                <a:spcPct val="0"/>
              </a:spcBef>
            </a:pPr>
            <a:r>
              <a:rPr lang="en-US" sz="7700" b="1">
                <a:solidFill>
                  <a:srgbClr val="000000"/>
                </a:solidFill>
                <a:latin typeface="Asap Condensed Bold"/>
                <a:ea typeface="Asap Condensed Bold"/>
                <a:cs typeface="Asap Condensed Bold"/>
                <a:sym typeface="Asap Condensed Bold"/>
              </a:rPr>
              <a:t>DATA INSPECTION</a:t>
            </a:r>
          </a:p>
        </p:txBody>
      </p:sp>
      <p:sp>
        <p:nvSpPr>
          <p:cNvPr id="26" name="TextBox 26"/>
          <p:cNvSpPr txBox="1"/>
          <p:nvPr/>
        </p:nvSpPr>
        <p:spPr>
          <a:xfrm>
            <a:off x="2052562" y="3807362"/>
            <a:ext cx="8117338" cy="5046306"/>
          </a:xfrm>
          <a:prstGeom prst="rect">
            <a:avLst/>
          </a:prstGeom>
        </p:spPr>
        <p:txBody>
          <a:bodyPr lIns="0" tIns="0" rIns="0" bIns="0" rtlCol="0" anchor="t">
            <a:spAutoFit/>
          </a:bodyPr>
          <a:lstStyle/>
          <a:p>
            <a:pPr marL="754559" lvl="1" indent="-377280" algn="l">
              <a:lnSpc>
                <a:spcPts val="3984"/>
              </a:lnSpc>
              <a:buFont typeface="Arial"/>
              <a:buChar char="•"/>
            </a:pPr>
            <a:r>
              <a:rPr lang="en-US" sz="3494" spc="76">
                <a:solidFill>
                  <a:srgbClr val="000000"/>
                </a:solidFill>
                <a:latin typeface="Dumondi Condensed"/>
                <a:ea typeface="Dumondi Condensed"/>
                <a:cs typeface="Dumondi Condensed"/>
                <a:sym typeface="Dumondi Condensed"/>
              </a:rPr>
              <a:t>Used Python to inspect data and know number or rows and columns, information about each data attribute.</a:t>
            </a:r>
          </a:p>
          <a:p>
            <a:pPr marL="754559" lvl="1" indent="-377280" algn="l">
              <a:lnSpc>
                <a:spcPts val="3984"/>
              </a:lnSpc>
              <a:buFont typeface="Arial"/>
              <a:buChar char="•"/>
            </a:pPr>
            <a:r>
              <a:rPr lang="en-US" sz="3494" spc="76">
                <a:solidFill>
                  <a:srgbClr val="000000"/>
                </a:solidFill>
                <a:latin typeface="Dumondi Condensed"/>
                <a:ea typeface="Dumondi Condensed"/>
                <a:cs typeface="Dumondi Condensed"/>
                <a:sym typeface="Dumondi Condensed"/>
              </a:rPr>
              <a:t>Checking for duplicated rows to remove them</a:t>
            </a:r>
          </a:p>
          <a:p>
            <a:pPr marL="754559" lvl="1" indent="-377280" algn="l">
              <a:lnSpc>
                <a:spcPts val="3984"/>
              </a:lnSpc>
              <a:buFont typeface="Arial"/>
              <a:buChar char="•"/>
            </a:pPr>
            <a:r>
              <a:rPr lang="en-US" sz="3494" spc="76">
                <a:solidFill>
                  <a:srgbClr val="000000"/>
                </a:solidFill>
                <a:latin typeface="Dumondi Condensed"/>
                <a:ea typeface="Dumondi Condensed"/>
                <a:cs typeface="Dumondi Condensed"/>
                <a:sym typeface="Dumondi Condensed"/>
              </a:rPr>
              <a:t>Changing data types from float to int, object to datetime</a:t>
            </a:r>
          </a:p>
          <a:p>
            <a:pPr marL="754559" lvl="1" indent="-377280" algn="l">
              <a:lnSpc>
                <a:spcPts val="3984"/>
              </a:lnSpc>
              <a:buFont typeface="Arial"/>
              <a:buChar char="•"/>
            </a:pPr>
            <a:r>
              <a:rPr lang="en-US" sz="3494" spc="76">
                <a:solidFill>
                  <a:srgbClr val="000000"/>
                </a:solidFill>
                <a:latin typeface="Dumondi Condensed"/>
                <a:ea typeface="Dumondi Condensed"/>
                <a:cs typeface="Dumondi Condensed"/>
                <a:sym typeface="Dumondi Condensed"/>
              </a:rPr>
              <a:t>Validate that unit value has sometimes different values in comparison with actual value</a:t>
            </a:r>
          </a:p>
          <a:p>
            <a:pPr marL="754559" lvl="1" indent="-377280" algn="l">
              <a:lnSpc>
                <a:spcPts val="3984"/>
              </a:lnSpc>
              <a:buFont typeface="Arial"/>
              <a:buChar char="•"/>
            </a:pPr>
            <a:r>
              <a:rPr lang="en-US" sz="3494" spc="76">
                <a:solidFill>
                  <a:srgbClr val="000000"/>
                </a:solidFill>
                <a:latin typeface="Dumondi Condensed"/>
                <a:ea typeface="Dumondi Condensed"/>
                <a:cs typeface="Dumondi Condensed"/>
                <a:sym typeface="Dumondi Condensed"/>
              </a:rPr>
              <a:t>Define constraints of primary keys and foreign keys in SQL</a:t>
            </a:r>
          </a:p>
        </p:txBody>
      </p:sp>
      <p:grpSp>
        <p:nvGrpSpPr>
          <p:cNvPr id="27" name="Group 27"/>
          <p:cNvGrpSpPr/>
          <p:nvPr/>
        </p:nvGrpSpPr>
        <p:grpSpPr>
          <a:xfrm rot="-10106257">
            <a:off x="4466603" y="797339"/>
            <a:ext cx="462723" cy="46272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29" name="TextBox 29"/>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0" name="Freeform 30"/>
          <p:cNvSpPr/>
          <p:nvPr/>
        </p:nvSpPr>
        <p:spPr>
          <a:xfrm>
            <a:off x="341851" y="1117794"/>
            <a:ext cx="2969903" cy="1857539"/>
          </a:xfrm>
          <a:custGeom>
            <a:avLst/>
            <a:gdLst/>
            <a:ahLst/>
            <a:cxnLst/>
            <a:rect l="l" t="t" r="r" b="b"/>
            <a:pathLst>
              <a:path w="2969903" h="1857539">
                <a:moveTo>
                  <a:pt x="0" y="0"/>
                </a:moveTo>
                <a:lnTo>
                  <a:pt x="2969903" y="0"/>
                </a:lnTo>
                <a:lnTo>
                  <a:pt x="2969903" y="1857539"/>
                </a:lnTo>
                <a:lnTo>
                  <a:pt x="0" y="18575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8068"/>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8229600"/>
            <a:chOff x="0" y="0"/>
            <a:chExt cx="21083246" cy="10690097"/>
          </a:xfrm>
        </p:grpSpPr>
        <p:sp>
          <p:nvSpPr>
            <p:cNvPr id="3" name="Freeform 3"/>
            <p:cNvSpPr/>
            <p:nvPr/>
          </p:nvSpPr>
          <p:spPr>
            <a:xfrm>
              <a:off x="31750" y="31750"/>
              <a:ext cx="21018505" cy="10626596"/>
            </a:xfrm>
            <a:custGeom>
              <a:avLst/>
              <a:gdLst/>
              <a:ahLst/>
              <a:cxnLst/>
              <a:rect l="l" t="t" r="r" b="b"/>
              <a:pathLst>
                <a:path w="21018505" h="10626596">
                  <a:moveTo>
                    <a:pt x="20927036" y="10626596"/>
                  </a:moveTo>
                  <a:lnTo>
                    <a:pt x="92710" y="10626596"/>
                  </a:lnTo>
                  <a:cubicBezTo>
                    <a:pt x="41910" y="10626596"/>
                    <a:pt x="0" y="10584686"/>
                    <a:pt x="0" y="10533886"/>
                  </a:cubicBezTo>
                  <a:lnTo>
                    <a:pt x="0" y="92710"/>
                  </a:lnTo>
                  <a:cubicBezTo>
                    <a:pt x="0" y="41910"/>
                    <a:pt x="41910" y="0"/>
                    <a:pt x="92710" y="0"/>
                  </a:cubicBezTo>
                  <a:lnTo>
                    <a:pt x="20925766" y="0"/>
                  </a:lnTo>
                  <a:cubicBezTo>
                    <a:pt x="20976566" y="0"/>
                    <a:pt x="21018477" y="41910"/>
                    <a:pt x="21018477" y="92710"/>
                  </a:cubicBezTo>
                  <a:lnTo>
                    <a:pt x="21018477" y="10532617"/>
                  </a:lnTo>
                  <a:cubicBezTo>
                    <a:pt x="21019746" y="10584686"/>
                    <a:pt x="20977836" y="10626596"/>
                    <a:pt x="20927036" y="10626596"/>
                  </a:cubicBezTo>
                  <a:close/>
                </a:path>
              </a:pathLst>
            </a:custGeom>
            <a:solidFill>
              <a:srgbClr val="FFFFFF"/>
            </a:solidFill>
          </p:spPr>
          <p:txBody>
            <a:bodyPr/>
            <a:lstStyle/>
            <a:p>
              <a:endParaRPr lang="en-US"/>
            </a:p>
          </p:txBody>
        </p:sp>
        <p:sp>
          <p:nvSpPr>
            <p:cNvPr id="4" name="Freeform 4"/>
            <p:cNvSpPr/>
            <p:nvPr/>
          </p:nvSpPr>
          <p:spPr>
            <a:xfrm>
              <a:off x="0" y="0"/>
              <a:ext cx="21083246" cy="10690096"/>
            </a:xfrm>
            <a:custGeom>
              <a:avLst/>
              <a:gdLst/>
              <a:ahLst/>
              <a:cxnLst/>
              <a:rect l="l" t="t" r="r" b="b"/>
              <a:pathLst>
                <a:path w="21083246" h="10690096">
                  <a:moveTo>
                    <a:pt x="20958786" y="59690"/>
                  </a:moveTo>
                  <a:cubicBezTo>
                    <a:pt x="20994346" y="59690"/>
                    <a:pt x="21023556" y="88900"/>
                    <a:pt x="21023556" y="124460"/>
                  </a:cubicBezTo>
                  <a:lnTo>
                    <a:pt x="21023556" y="10565636"/>
                  </a:lnTo>
                  <a:cubicBezTo>
                    <a:pt x="21023556" y="10601196"/>
                    <a:pt x="20994346" y="10630406"/>
                    <a:pt x="20958786" y="10630406"/>
                  </a:cubicBezTo>
                  <a:lnTo>
                    <a:pt x="124460" y="10630406"/>
                  </a:lnTo>
                  <a:cubicBezTo>
                    <a:pt x="88900" y="10630406"/>
                    <a:pt x="59690" y="10601196"/>
                    <a:pt x="59690" y="10565636"/>
                  </a:cubicBezTo>
                  <a:lnTo>
                    <a:pt x="59690" y="124460"/>
                  </a:lnTo>
                  <a:cubicBezTo>
                    <a:pt x="59690" y="88900"/>
                    <a:pt x="88900" y="59690"/>
                    <a:pt x="124460" y="59690"/>
                  </a:cubicBezTo>
                  <a:lnTo>
                    <a:pt x="20958786" y="59690"/>
                  </a:lnTo>
                  <a:moveTo>
                    <a:pt x="20958786" y="0"/>
                  </a:moveTo>
                  <a:lnTo>
                    <a:pt x="124460" y="0"/>
                  </a:lnTo>
                  <a:cubicBezTo>
                    <a:pt x="55880" y="0"/>
                    <a:pt x="0" y="55880"/>
                    <a:pt x="0" y="124460"/>
                  </a:cubicBezTo>
                  <a:lnTo>
                    <a:pt x="0" y="10565636"/>
                  </a:lnTo>
                  <a:cubicBezTo>
                    <a:pt x="0" y="10634217"/>
                    <a:pt x="55880" y="10690096"/>
                    <a:pt x="124460" y="10690096"/>
                  </a:cubicBezTo>
                  <a:lnTo>
                    <a:pt x="20958786" y="10690096"/>
                  </a:lnTo>
                  <a:cubicBezTo>
                    <a:pt x="21027366" y="10690096"/>
                    <a:pt x="21083246" y="10634217"/>
                    <a:pt x="21083246" y="10565636"/>
                  </a:cubicBezTo>
                  <a:lnTo>
                    <a:pt x="21083246" y="124460"/>
                  </a:lnTo>
                  <a:cubicBezTo>
                    <a:pt x="21083246" y="55880"/>
                    <a:pt x="21027366" y="0"/>
                    <a:pt x="20958786" y="0"/>
                  </a:cubicBezTo>
                  <a:close/>
                </a:path>
              </a:pathLst>
            </a:custGeom>
            <a:solidFill>
              <a:srgbClr val="191919"/>
            </a:solidFill>
          </p:spPr>
          <p:txBody>
            <a:bodyPr/>
            <a:lstStyle/>
            <a:p>
              <a:endParaRPr lang="en-US"/>
            </a:p>
          </p:txBody>
        </p:sp>
      </p:grpSp>
      <p:grpSp>
        <p:nvGrpSpPr>
          <p:cNvPr id="5" name="Group 5"/>
          <p:cNvGrpSpPr/>
          <p:nvPr/>
        </p:nvGrpSpPr>
        <p:grpSpPr>
          <a:xfrm>
            <a:off x="15207137" y="1316799"/>
            <a:ext cx="1670088" cy="464416"/>
            <a:chOff x="0" y="0"/>
            <a:chExt cx="2226784" cy="619221"/>
          </a:xfrm>
        </p:grpSpPr>
        <p:grpSp>
          <p:nvGrpSpPr>
            <p:cNvPr id="6" name="Group 6"/>
            <p:cNvGrpSpPr/>
            <p:nvPr/>
          </p:nvGrpSpPr>
          <p:grpSpPr>
            <a:xfrm>
              <a:off x="0" y="0"/>
              <a:ext cx="619221" cy="61922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804538" y="0"/>
              <a:ext cx="619221" cy="61922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07563" y="0"/>
              <a:ext cx="619221" cy="61922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15" name="TextBox 15"/>
          <p:cNvSpPr txBox="1"/>
          <p:nvPr/>
        </p:nvSpPr>
        <p:spPr>
          <a:xfrm>
            <a:off x="9144000" y="3210316"/>
            <a:ext cx="7383160" cy="1933184"/>
          </a:xfrm>
          <a:prstGeom prst="rect">
            <a:avLst/>
          </a:prstGeom>
        </p:spPr>
        <p:txBody>
          <a:bodyPr lIns="0" tIns="0" rIns="0" bIns="0" rtlCol="0" anchor="t">
            <a:spAutoFit/>
          </a:bodyPr>
          <a:lstStyle/>
          <a:p>
            <a:pPr algn="r">
              <a:lnSpc>
                <a:spcPts val="14522"/>
              </a:lnSpc>
            </a:pPr>
            <a:r>
              <a:rPr lang="en-US" sz="14099" b="1" spc="507">
                <a:solidFill>
                  <a:srgbClr val="000000"/>
                </a:solidFill>
                <a:latin typeface="Asap Condensed Bold"/>
                <a:ea typeface="Asap Condensed Bold"/>
                <a:cs typeface="Asap Condensed Bold"/>
                <a:sym typeface="Asap Condensed Bold"/>
              </a:rPr>
              <a:t>BUSINESS </a:t>
            </a:r>
          </a:p>
        </p:txBody>
      </p:sp>
      <p:pic>
        <p:nvPicPr>
          <p:cNvPr id="16" name="Picture 16"/>
          <p:cNvPicPr>
            <a:picLocks noChangeAspect="1"/>
          </p:cNvPicPr>
          <p:nvPr/>
        </p:nvPicPr>
        <p:blipFill>
          <a:blip r:embed="rId2"/>
          <a:srcRect/>
          <a:stretch>
            <a:fillRect/>
          </a:stretch>
        </p:blipFill>
        <p:spPr>
          <a:xfrm flipH="1">
            <a:off x="-2910742" y="2662148"/>
            <a:ext cx="12853468" cy="10467716"/>
          </a:xfrm>
          <a:prstGeom prst="rect">
            <a:avLst/>
          </a:prstGeom>
        </p:spPr>
      </p:pic>
      <p:sp>
        <p:nvSpPr>
          <p:cNvPr id="17" name="TextBox 17"/>
          <p:cNvSpPr txBox="1"/>
          <p:nvPr/>
        </p:nvSpPr>
        <p:spPr>
          <a:xfrm>
            <a:off x="9753753" y="5022424"/>
            <a:ext cx="6288428" cy="1464006"/>
          </a:xfrm>
          <a:prstGeom prst="rect">
            <a:avLst/>
          </a:prstGeom>
        </p:spPr>
        <p:txBody>
          <a:bodyPr lIns="0" tIns="0" rIns="0" bIns="0" rtlCol="0" anchor="t">
            <a:spAutoFit/>
          </a:bodyPr>
          <a:lstStyle/>
          <a:p>
            <a:pPr algn="r">
              <a:lnSpc>
                <a:spcPts val="11043"/>
              </a:lnSpc>
            </a:pPr>
            <a:r>
              <a:rPr lang="en-US" sz="10721" b="1" spc="385">
                <a:solidFill>
                  <a:srgbClr val="000000"/>
                </a:solidFill>
                <a:latin typeface="Asap Condensed Bold"/>
                <a:ea typeface="Asap Condensed Bold"/>
                <a:cs typeface="Asap Condensed Bold"/>
                <a:sym typeface="Asap Condensed Bold"/>
              </a:rPr>
              <a:t>ANALYSIS</a:t>
            </a:r>
          </a:p>
        </p:txBody>
      </p:sp>
      <p:sp>
        <p:nvSpPr>
          <p:cNvPr id="18" name="AutoShape 18"/>
          <p:cNvSpPr/>
          <p:nvPr/>
        </p:nvSpPr>
        <p:spPr>
          <a:xfrm>
            <a:off x="1028700" y="2005522"/>
            <a:ext cx="16230600" cy="0"/>
          </a:xfrm>
          <a:prstGeom prst="line">
            <a:avLst/>
          </a:prstGeom>
          <a:ln w="47625"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40342" y="9335665"/>
            <a:ext cx="1902670" cy="190267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0106257">
            <a:off x="302954" y="426002"/>
            <a:ext cx="3363512" cy="336351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243697" y="7319270"/>
            <a:ext cx="2241710" cy="224171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923378" y="1617613"/>
            <a:ext cx="14441095" cy="7051773"/>
            <a:chOff x="0" y="0"/>
            <a:chExt cx="18758712" cy="9160122"/>
          </a:xfrm>
        </p:grpSpPr>
        <p:sp>
          <p:nvSpPr>
            <p:cNvPr id="12" name="Freeform 12"/>
            <p:cNvSpPr/>
            <p:nvPr/>
          </p:nvSpPr>
          <p:spPr>
            <a:xfrm>
              <a:off x="31750" y="31750"/>
              <a:ext cx="18693971" cy="9096621"/>
            </a:xfrm>
            <a:custGeom>
              <a:avLst/>
              <a:gdLst/>
              <a:ahLst/>
              <a:cxnLst/>
              <a:rect l="l" t="t" r="r" b="b"/>
              <a:pathLst>
                <a:path w="18693971" h="9096621">
                  <a:moveTo>
                    <a:pt x="18602502" y="9096621"/>
                  </a:moveTo>
                  <a:lnTo>
                    <a:pt x="92710" y="9096621"/>
                  </a:lnTo>
                  <a:cubicBezTo>
                    <a:pt x="41910" y="9096621"/>
                    <a:pt x="0" y="9054712"/>
                    <a:pt x="0" y="9003912"/>
                  </a:cubicBezTo>
                  <a:lnTo>
                    <a:pt x="0" y="92710"/>
                  </a:lnTo>
                  <a:cubicBezTo>
                    <a:pt x="0" y="41910"/>
                    <a:pt x="41910" y="0"/>
                    <a:pt x="92710" y="0"/>
                  </a:cubicBezTo>
                  <a:lnTo>
                    <a:pt x="18601232" y="0"/>
                  </a:lnTo>
                  <a:cubicBezTo>
                    <a:pt x="18652032" y="0"/>
                    <a:pt x="18693943" y="41910"/>
                    <a:pt x="18693943" y="92710"/>
                  </a:cubicBezTo>
                  <a:lnTo>
                    <a:pt x="18693943" y="9002642"/>
                  </a:lnTo>
                  <a:cubicBezTo>
                    <a:pt x="18695212" y="9054712"/>
                    <a:pt x="18653302" y="9096621"/>
                    <a:pt x="18602502" y="9096621"/>
                  </a:cubicBezTo>
                  <a:close/>
                </a:path>
              </a:pathLst>
            </a:custGeom>
            <a:solidFill>
              <a:srgbClr val="FFFFFF"/>
            </a:solidFill>
          </p:spPr>
          <p:txBody>
            <a:bodyPr/>
            <a:lstStyle/>
            <a:p>
              <a:endParaRPr lang="en-US"/>
            </a:p>
          </p:txBody>
        </p:sp>
        <p:sp>
          <p:nvSpPr>
            <p:cNvPr id="13" name="Freeform 13"/>
            <p:cNvSpPr/>
            <p:nvPr/>
          </p:nvSpPr>
          <p:spPr>
            <a:xfrm>
              <a:off x="0" y="0"/>
              <a:ext cx="18758712" cy="9160121"/>
            </a:xfrm>
            <a:custGeom>
              <a:avLst/>
              <a:gdLst/>
              <a:ahLst/>
              <a:cxnLst/>
              <a:rect l="l" t="t" r="r" b="b"/>
              <a:pathLst>
                <a:path w="18758712" h="9160121">
                  <a:moveTo>
                    <a:pt x="18634252" y="59690"/>
                  </a:moveTo>
                  <a:cubicBezTo>
                    <a:pt x="18669812" y="59690"/>
                    <a:pt x="18699021" y="88900"/>
                    <a:pt x="18699021" y="124460"/>
                  </a:cubicBezTo>
                  <a:lnTo>
                    <a:pt x="18699021" y="9035662"/>
                  </a:lnTo>
                  <a:cubicBezTo>
                    <a:pt x="18699021" y="9071221"/>
                    <a:pt x="18669812" y="9100431"/>
                    <a:pt x="18634252" y="9100431"/>
                  </a:cubicBezTo>
                  <a:lnTo>
                    <a:pt x="124460" y="9100431"/>
                  </a:lnTo>
                  <a:cubicBezTo>
                    <a:pt x="88900" y="9100431"/>
                    <a:pt x="59690" y="9071221"/>
                    <a:pt x="59690" y="9035662"/>
                  </a:cubicBezTo>
                  <a:lnTo>
                    <a:pt x="59690" y="124460"/>
                  </a:lnTo>
                  <a:cubicBezTo>
                    <a:pt x="59690" y="88900"/>
                    <a:pt x="88900" y="59690"/>
                    <a:pt x="124460" y="59690"/>
                  </a:cubicBezTo>
                  <a:lnTo>
                    <a:pt x="18634252" y="59690"/>
                  </a:lnTo>
                  <a:moveTo>
                    <a:pt x="18634252" y="0"/>
                  </a:moveTo>
                  <a:lnTo>
                    <a:pt x="124460" y="0"/>
                  </a:lnTo>
                  <a:cubicBezTo>
                    <a:pt x="55880" y="0"/>
                    <a:pt x="0" y="55880"/>
                    <a:pt x="0" y="124460"/>
                  </a:cubicBezTo>
                  <a:lnTo>
                    <a:pt x="0" y="9035662"/>
                  </a:lnTo>
                  <a:cubicBezTo>
                    <a:pt x="0" y="9104242"/>
                    <a:pt x="55880" y="9160121"/>
                    <a:pt x="124460" y="9160121"/>
                  </a:cubicBezTo>
                  <a:lnTo>
                    <a:pt x="18634252" y="9160121"/>
                  </a:lnTo>
                  <a:cubicBezTo>
                    <a:pt x="18702832" y="9160121"/>
                    <a:pt x="18758712" y="9104242"/>
                    <a:pt x="18758712" y="9035662"/>
                  </a:cubicBezTo>
                  <a:lnTo>
                    <a:pt x="18758712" y="124460"/>
                  </a:lnTo>
                  <a:cubicBezTo>
                    <a:pt x="18758712" y="55880"/>
                    <a:pt x="18702832" y="0"/>
                    <a:pt x="18634252" y="0"/>
                  </a:cubicBezTo>
                  <a:close/>
                </a:path>
              </a:pathLst>
            </a:custGeom>
            <a:solidFill>
              <a:srgbClr val="191919"/>
            </a:solidFill>
          </p:spPr>
          <p:txBody>
            <a:bodyPr/>
            <a:lstStyle/>
            <a:p>
              <a:endParaRPr lang="en-US"/>
            </a:p>
          </p:txBody>
        </p:sp>
      </p:grpSp>
      <p:grpSp>
        <p:nvGrpSpPr>
          <p:cNvPr id="14" name="Group 14"/>
          <p:cNvGrpSpPr/>
          <p:nvPr/>
        </p:nvGrpSpPr>
        <p:grpSpPr>
          <a:xfrm>
            <a:off x="14588821" y="2015000"/>
            <a:ext cx="1154593" cy="321067"/>
            <a:chOff x="0" y="0"/>
            <a:chExt cx="1539457" cy="428090"/>
          </a:xfrm>
        </p:grpSpPr>
        <p:grpSp>
          <p:nvGrpSpPr>
            <p:cNvPr id="15" name="Group 15"/>
            <p:cNvGrpSpPr/>
            <p:nvPr/>
          </p:nvGrpSpPr>
          <p:grpSpPr>
            <a:xfrm>
              <a:off x="0" y="0"/>
              <a:ext cx="428090" cy="42809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556206" y="0"/>
              <a:ext cx="428090" cy="42809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111367" y="0"/>
              <a:ext cx="428090" cy="428090"/>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24" name="AutoShape 24"/>
          <p:cNvSpPr/>
          <p:nvPr/>
        </p:nvSpPr>
        <p:spPr>
          <a:xfrm>
            <a:off x="1923418" y="2612293"/>
            <a:ext cx="14441095" cy="23812"/>
          </a:xfrm>
          <a:prstGeom prst="line">
            <a:avLst/>
          </a:prstGeom>
          <a:ln w="47625" cap="flat">
            <a:solidFill>
              <a:srgbClr val="000000"/>
            </a:solidFill>
            <a:prstDash val="solid"/>
            <a:headEnd type="none" w="sm" len="sm"/>
            <a:tailEnd type="none" w="sm" len="sm"/>
          </a:ln>
        </p:spPr>
        <p:txBody>
          <a:bodyPr/>
          <a:lstStyle/>
          <a:p>
            <a:endParaRPr lang="en-US"/>
          </a:p>
        </p:txBody>
      </p:sp>
      <p:grpSp>
        <p:nvGrpSpPr>
          <p:cNvPr id="25" name="Group 25"/>
          <p:cNvGrpSpPr/>
          <p:nvPr/>
        </p:nvGrpSpPr>
        <p:grpSpPr>
          <a:xfrm>
            <a:off x="1444123" y="8190132"/>
            <a:ext cx="958510" cy="958510"/>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8068"/>
            </a:solidFill>
          </p:spPr>
          <p:txBody>
            <a:bodyPr/>
            <a:lstStyle/>
            <a:p>
              <a:endParaRPr lang="en-US"/>
            </a:p>
          </p:txBody>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rot="-10106257">
            <a:off x="4503954" y="690402"/>
            <a:ext cx="676596" cy="676596"/>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16812148" y="5874679"/>
            <a:ext cx="705891" cy="70589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33" name="TextBox 3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4" name="Freeform 34"/>
          <p:cNvSpPr/>
          <p:nvPr/>
        </p:nvSpPr>
        <p:spPr>
          <a:xfrm>
            <a:off x="9807343" y="4092468"/>
            <a:ext cx="6219528" cy="3313916"/>
          </a:xfrm>
          <a:custGeom>
            <a:avLst/>
            <a:gdLst/>
            <a:ahLst/>
            <a:cxnLst/>
            <a:rect l="l" t="t" r="r" b="b"/>
            <a:pathLst>
              <a:path w="6219528" h="3313916">
                <a:moveTo>
                  <a:pt x="0" y="0"/>
                </a:moveTo>
                <a:lnTo>
                  <a:pt x="6219528" y="0"/>
                </a:lnTo>
                <a:lnTo>
                  <a:pt x="6219528" y="3313917"/>
                </a:lnTo>
                <a:lnTo>
                  <a:pt x="0" y="3313917"/>
                </a:lnTo>
                <a:lnTo>
                  <a:pt x="0" y="0"/>
                </a:lnTo>
                <a:close/>
              </a:path>
            </a:pathLst>
          </a:custGeom>
          <a:blipFill>
            <a:blip r:embed="rId2"/>
            <a:stretch>
              <a:fillRect/>
            </a:stretch>
          </a:blipFill>
        </p:spPr>
        <p:txBody>
          <a:bodyPr/>
          <a:lstStyle/>
          <a:p>
            <a:endParaRPr lang="en-US"/>
          </a:p>
        </p:txBody>
      </p:sp>
      <p:sp>
        <p:nvSpPr>
          <p:cNvPr id="35" name="TextBox 35"/>
          <p:cNvSpPr txBox="1"/>
          <p:nvPr/>
        </p:nvSpPr>
        <p:spPr>
          <a:xfrm>
            <a:off x="2402633" y="2483705"/>
            <a:ext cx="6870581" cy="1318894"/>
          </a:xfrm>
          <a:prstGeom prst="rect">
            <a:avLst/>
          </a:prstGeom>
        </p:spPr>
        <p:txBody>
          <a:bodyPr lIns="0" tIns="0" rIns="0" bIns="0" rtlCol="0" anchor="t">
            <a:spAutoFit/>
          </a:bodyPr>
          <a:lstStyle/>
          <a:p>
            <a:pPr algn="just">
              <a:lnSpc>
                <a:spcPts val="10780"/>
              </a:lnSpc>
              <a:spcBef>
                <a:spcPct val="0"/>
              </a:spcBef>
            </a:pPr>
            <a:r>
              <a:rPr lang="en-US" sz="7700" b="1">
                <a:solidFill>
                  <a:srgbClr val="000000"/>
                </a:solidFill>
                <a:latin typeface="Asap Condensed Bold"/>
                <a:ea typeface="Asap Condensed Bold"/>
                <a:cs typeface="Asap Condensed Bold"/>
                <a:sym typeface="Asap Condensed Bold"/>
              </a:rPr>
              <a:t>LEADS ANALYSIS</a:t>
            </a:r>
          </a:p>
        </p:txBody>
      </p:sp>
      <p:sp>
        <p:nvSpPr>
          <p:cNvPr id="36" name="TextBox 36"/>
          <p:cNvSpPr txBox="1"/>
          <p:nvPr/>
        </p:nvSpPr>
        <p:spPr>
          <a:xfrm>
            <a:off x="2270605" y="3868122"/>
            <a:ext cx="5113183" cy="4468688"/>
          </a:xfrm>
          <a:prstGeom prst="rect">
            <a:avLst/>
          </a:prstGeom>
        </p:spPr>
        <p:txBody>
          <a:bodyPr lIns="0" tIns="0" rIns="0" bIns="0" rtlCol="0" anchor="t">
            <a:spAutoFit/>
          </a:bodyPr>
          <a:lstStyle/>
          <a:p>
            <a:pPr marL="475303" lvl="1" indent="-237652" algn="l">
              <a:lnSpc>
                <a:spcPts val="2509"/>
              </a:lnSpc>
              <a:buFont typeface="Arial"/>
              <a:buChar char="•"/>
            </a:pPr>
            <a:r>
              <a:rPr lang="en-US" sz="2201" spc="48">
                <a:solidFill>
                  <a:srgbClr val="000000"/>
                </a:solidFill>
                <a:latin typeface="Dumondi Condensed"/>
                <a:ea typeface="Dumondi Condensed"/>
                <a:cs typeface="Dumondi Condensed"/>
                <a:sym typeface="Dumondi Condensed"/>
              </a:rPr>
              <a:t>Primary leads form almost our lead type with 99.1%, and they are engaged with the app from Facebook, google, and the company’s website.</a:t>
            </a:r>
          </a:p>
          <a:p>
            <a:pPr marL="475303" lvl="1" indent="-237652" algn="l">
              <a:lnSpc>
                <a:spcPts val="2509"/>
              </a:lnSpc>
              <a:buFont typeface="Arial"/>
              <a:buChar char="•"/>
            </a:pPr>
            <a:r>
              <a:rPr lang="en-US" sz="2201" spc="48">
                <a:solidFill>
                  <a:srgbClr val="000000"/>
                </a:solidFill>
                <a:latin typeface="Dumondi Condensed"/>
                <a:ea typeface="Dumondi Condensed"/>
                <a:cs typeface="Dumondi Condensed"/>
                <a:sym typeface="Dumondi Condensed"/>
              </a:rPr>
              <a:t>Does the budget provided from buyers, has effect on total leads per lead source?</a:t>
            </a:r>
          </a:p>
          <a:p>
            <a:pPr marL="475303" lvl="1" indent="-237652" algn="l">
              <a:lnSpc>
                <a:spcPts val="2509"/>
              </a:lnSpc>
              <a:buFont typeface="Arial"/>
              <a:buChar char="•"/>
            </a:pPr>
            <a:r>
              <a:rPr lang="en-US" sz="2201" spc="48">
                <a:solidFill>
                  <a:srgbClr val="000000"/>
                </a:solidFill>
                <a:latin typeface="Dumondi Condensed"/>
                <a:ea typeface="Dumondi Condensed"/>
                <a:cs typeface="Dumondi Condensed"/>
                <a:sym typeface="Dumondi Condensed"/>
              </a:rPr>
              <a:t>Despite Facebook has highest number of leads, the consumers who are generated by Facebook are not consumers with highest budget. We will find another conclusion to draw which is google and personal sources, have consumers with the highest budget.</a:t>
            </a:r>
          </a:p>
          <a:p>
            <a:pPr marL="475303" lvl="1" indent="-237652" algn="l">
              <a:lnSpc>
                <a:spcPts val="2509"/>
              </a:lnSpc>
              <a:buFont typeface="Arial"/>
              <a:buChar char="•"/>
            </a:pPr>
            <a:r>
              <a:rPr lang="en-US" sz="2201" spc="48">
                <a:solidFill>
                  <a:srgbClr val="000000"/>
                </a:solidFill>
                <a:latin typeface="Dumondi Condensed"/>
                <a:ea typeface="Dumondi Condensed"/>
                <a:cs typeface="Dumondi Condensed"/>
                <a:sym typeface="Dumondi Condensed"/>
              </a:rPr>
              <a:t>In which means we need more attention to those sources</a:t>
            </a:r>
          </a:p>
          <a:p>
            <a:pPr algn="l">
              <a:lnSpc>
                <a:spcPts val="2509"/>
              </a:lnSpc>
            </a:pPr>
            <a:endParaRPr lang="en-US" sz="2201" spc="48">
              <a:solidFill>
                <a:srgbClr val="000000"/>
              </a:solidFill>
              <a:latin typeface="Dumondi Condensed"/>
              <a:ea typeface="Dumondi Condensed"/>
              <a:cs typeface="Dumondi Condensed"/>
              <a:sym typeface="Dumondi Condense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40342" y="9335665"/>
            <a:ext cx="1902670" cy="190267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0106257">
            <a:off x="302954" y="426002"/>
            <a:ext cx="3363512" cy="336351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243697" y="7319270"/>
            <a:ext cx="2241710" cy="224171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923378" y="1617613"/>
            <a:ext cx="14441095" cy="7051773"/>
            <a:chOff x="0" y="0"/>
            <a:chExt cx="18758712" cy="9160122"/>
          </a:xfrm>
        </p:grpSpPr>
        <p:sp>
          <p:nvSpPr>
            <p:cNvPr id="12" name="Freeform 12"/>
            <p:cNvSpPr/>
            <p:nvPr/>
          </p:nvSpPr>
          <p:spPr>
            <a:xfrm>
              <a:off x="31750" y="31750"/>
              <a:ext cx="18693971" cy="9096621"/>
            </a:xfrm>
            <a:custGeom>
              <a:avLst/>
              <a:gdLst/>
              <a:ahLst/>
              <a:cxnLst/>
              <a:rect l="l" t="t" r="r" b="b"/>
              <a:pathLst>
                <a:path w="18693971" h="9096621">
                  <a:moveTo>
                    <a:pt x="18602502" y="9096621"/>
                  </a:moveTo>
                  <a:lnTo>
                    <a:pt x="92710" y="9096621"/>
                  </a:lnTo>
                  <a:cubicBezTo>
                    <a:pt x="41910" y="9096621"/>
                    <a:pt x="0" y="9054712"/>
                    <a:pt x="0" y="9003912"/>
                  </a:cubicBezTo>
                  <a:lnTo>
                    <a:pt x="0" y="92710"/>
                  </a:lnTo>
                  <a:cubicBezTo>
                    <a:pt x="0" y="41910"/>
                    <a:pt x="41910" y="0"/>
                    <a:pt x="92710" y="0"/>
                  </a:cubicBezTo>
                  <a:lnTo>
                    <a:pt x="18601232" y="0"/>
                  </a:lnTo>
                  <a:cubicBezTo>
                    <a:pt x="18652032" y="0"/>
                    <a:pt x="18693943" y="41910"/>
                    <a:pt x="18693943" y="92710"/>
                  </a:cubicBezTo>
                  <a:lnTo>
                    <a:pt x="18693943" y="9002642"/>
                  </a:lnTo>
                  <a:cubicBezTo>
                    <a:pt x="18695212" y="9054712"/>
                    <a:pt x="18653302" y="9096621"/>
                    <a:pt x="18602502" y="9096621"/>
                  </a:cubicBezTo>
                  <a:close/>
                </a:path>
              </a:pathLst>
            </a:custGeom>
            <a:solidFill>
              <a:srgbClr val="FFFFFF"/>
            </a:solidFill>
          </p:spPr>
          <p:txBody>
            <a:bodyPr/>
            <a:lstStyle/>
            <a:p>
              <a:endParaRPr lang="en-US"/>
            </a:p>
          </p:txBody>
        </p:sp>
        <p:sp>
          <p:nvSpPr>
            <p:cNvPr id="13" name="Freeform 13"/>
            <p:cNvSpPr/>
            <p:nvPr/>
          </p:nvSpPr>
          <p:spPr>
            <a:xfrm>
              <a:off x="0" y="0"/>
              <a:ext cx="18758712" cy="9160121"/>
            </a:xfrm>
            <a:custGeom>
              <a:avLst/>
              <a:gdLst/>
              <a:ahLst/>
              <a:cxnLst/>
              <a:rect l="l" t="t" r="r" b="b"/>
              <a:pathLst>
                <a:path w="18758712" h="9160121">
                  <a:moveTo>
                    <a:pt x="18634252" y="59690"/>
                  </a:moveTo>
                  <a:cubicBezTo>
                    <a:pt x="18669812" y="59690"/>
                    <a:pt x="18699021" y="88900"/>
                    <a:pt x="18699021" y="124460"/>
                  </a:cubicBezTo>
                  <a:lnTo>
                    <a:pt x="18699021" y="9035662"/>
                  </a:lnTo>
                  <a:cubicBezTo>
                    <a:pt x="18699021" y="9071221"/>
                    <a:pt x="18669812" y="9100431"/>
                    <a:pt x="18634252" y="9100431"/>
                  </a:cubicBezTo>
                  <a:lnTo>
                    <a:pt x="124460" y="9100431"/>
                  </a:lnTo>
                  <a:cubicBezTo>
                    <a:pt x="88900" y="9100431"/>
                    <a:pt x="59690" y="9071221"/>
                    <a:pt x="59690" y="9035662"/>
                  </a:cubicBezTo>
                  <a:lnTo>
                    <a:pt x="59690" y="124460"/>
                  </a:lnTo>
                  <a:cubicBezTo>
                    <a:pt x="59690" y="88900"/>
                    <a:pt x="88900" y="59690"/>
                    <a:pt x="124460" y="59690"/>
                  </a:cubicBezTo>
                  <a:lnTo>
                    <a:pt x="18634252" y="59690"/>
                  </a:lnTo>
                  <a:moveTo>
                    <a:pt x="18634252" y="0"/>
                  </a:moveTo>
                  <a:lnTo>
                    <a:pt x="124460" y="0"/>
                  </a:lnTo>
                  <a:cubicBezTo>
                    <a:pt x="55880" y="0"/>
                    <a:pt x="0" y="55880"/>
                    <a:pt x="0" y="124460"/>
                  </a:cubicBezTo>
                  <a:lnTo>
                    <a:pt x="0" y="9035662"/>
                  </a:lnTo>
                  <a:cubicBezTo>
                    <a:pt x="0" y="9104242"/>
                    <a:pt x="55880" y="9160121"/>
                    <a:pt x="124460" y="9160121"/>
                  </a:cubicBezTo>
                  <a:lnTo>
                    <a:pt x="18634252" y="9160121"/>
                  </a:lnTo>
                  <a:cubicBezTo>
                    <a:pt x="18702832" y="9160121"/>
                    <a:pt x="18758712" y="9104242"/>
                    <a:pt x="18758712" y="9035662"/>
                  </a:cubicBezTo>
                  <a:lnTo>
                    <a:pt x="18758712" y="124460"/>
                  </a:lnTo>
                  <a:cubicBezTo>
                    <a:pt x="18758712" y="55880"/>
                    <a:pt x="18702832" y="0"/>
                    <a:pt x="18634252" y="0"/>
                  </a:cubicBezTo>
                  <a:close/>
                </a:path>
              </a:pathLst>
            </a:custGeom>
            <a:solidFill>
              <a:srgbClr val="191919"/>
            </a:solidFill>
          </p:spPr>
          <p:txBody>
            <a:bodyPr/>
            <a:lstStyle/>
            <a:p>
              <a:endParaRPr lang="en-US"/>
            </a:p>
          </p:txBody>
        </p:sp>
      </p:grpSp>
      <p:grpSp>
        <p:nvGrpSpPr>
          <p:cNvPr id="14" name="Group 14"/>
          <p:cNvGrpSpPr/>
          <p:nvPr/>
        </p:nvGrpSpPr>
        <p:grpSpPr>
          <a:xfrm>
            <a:off x="14588821" y="2015000"/>
            <a:ext cx="1154593" cy="321067"/>
            <a:chOff x="0" y="0"/>
            <a:chExt cx="1539457" cy="428090"/>
          </a:xfrm>
        </p:grpSpPr>
        <p:grpSp>
          <p:nvGrpSpPr>
            <p:cNvPr id="15" name="Group 15"/>
            <p:cNvGrpSpPr/>
            <p:nvPr/>
          </p:nvGrpSpPr>
          <p:grpSpPr>
            <a:xfrm>
              <a:off x="0" y="0"/>
              <a:ext cx="428090" cy="42809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556206" y="0"/>
              <a:ext cx="428090" cy="42809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111367" y="0"/>
              <a:ext cx="428090" cy="428090"/>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24" name="AutoShape 24"/>
          <p:cNvSpPr/>
          <p:nvPr/>
        </p:nvSpPr>
        <p:spPr>
          <a:xfrm>
            <a:off x="1923418" y="2612293"/>
            <a:ext cx="14441095" cy="23812"/>
          </a:xfrm>
          <a:prstGeom prst="line">
            <a:avLst/>
          </a:prstGeom>
          <a:ln w="47625" cap="flat">
            <a:solidFill>
              <a:srgbClr val="000000"/>
            </a:solidFill>
            <a:prstDash val="solid"/>
            <a:headEnd type="none" w="sm" len="sm"/>
            <a:tailEnd type="none" w="sm" len="sm"/>
          </a:ln>
        </p:spPr>
        <p:txBody>
          <a:bodyPr/>
          <a:lstStyle/>
          <a:p>
            <a:endParaRPr lang="en-US"/>
          </a:p>
        </p:txBody>
      </p:sp>
      <p:grpSp>
        <p:nvGrpSpPr>
          <p:cNvPr id="25" name="Group 25"/>
          <p:cNvGrpSpPr/>
          <p:nvPr/>
        </p:nvGrpSpPr>
        <p:grpSpPr>
          <a:xfrm>
            <a:off x="1444123" y="8190132"/>
            <a:ext cx="958510" cy="958510"/>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8068"/>
            </a:solidFill>
          </p:spPr>
          <p:txBody>
            <a:bodyPr/>
            <a:lstStyle/>
            <a:p>
              <a:endParaRPr lang="en-US"/>
            </a:p>
          </p:txBody>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rot="-10106257">
            <a:off x="4503954" y="690402"/>
            <a:ext cx="676596" cy="676596"/>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16812148" y="5874679"/>
            <a:ext cx="705891" cy="70589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33" name="TextBox 3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4" name="Freeform 34"/>
          <p:cNvSpPr/>
          <p:nvPr/>
        </p:nvSpPr>
        <p:spPr>
          <a:xfrm>
            <a:off x="9488578" y="3508593"/>
            <a:ext cx="6728924" cy="3810677"/>
          </a:xfrm>
          <a:custGeom>
            <a:avLst/>
            <a:gdLst/>
            <a:ahLst/>
            <a:cxnLst/>
            <a:rect l="l" t="t" r="r" b="b"/>
            <a:pathLst>
              <a:path w="6728924" h="3810677">
                <a:moveTo>
                  <a:pt x="0" y="0"/>
                </a:moveTo>
                <a:lnTo>
                  <a:pt x="6728925" y="0"/>
                </a:lnTo>
                <a:lnTo>
                  <a:pt x="6728925" y="3810677"/>
                </a:lnTo>
                <a:lnTo>
                  <a:pt x="0" y="3810677"/>
                </a:lnTo>
                <a:lnTo>
                  <a:pt x="0" y="0"/>
                </a:lnTo>
                <a:close/>
              </a:path>
            </a:pathLst>
          </a:custGeom>
          <a:blipFill>
            <a:blip r:embed="rId2"/>
            <a:stretch>
              <a:fillRect l="-930" t="-6601"/>
            </a:stretch>
          </a:blipFill>
        </p:spPr>
        <p:txBody>
          <a:bodyPr/>
          <a:lstStyle/>
          <a:p>
            <a:endParaRPr lang="en-US"/>
          </a:p>
        </p:txBody>
      </p:sp>
      <p:sp>
        <p:nvSpPr>
          <p:cNvPr id="35" name="TextBox 35"/>
          <p:cNvSpPr txBox="1"/>
          <p:nvPr/>
        </p:nvSpPr>
        <p:spPr>
          <a:xfrm>
            <a:off x="2402633" y="2483705"/>
            <a:ext cx="6870581" cy="1318894"/>
          </a:xfrm>
          <a:prstGeom prst="rect">
            <a:avLst/>
          </a:prstGeom>
        </p:spPr>
        <p:txBody>
          <a:bodyPr lIns="0" tIns="0" rIns="0" bIns="0" rtlCol="0" anchor="t">
            <a:spAutoFit/>
          </a:bodyPr>
          <a:lstStyle/>
          <a:p>
            <a:pPr algn="just">
              <a:lnSpc>
                <a:spcPts val="10780"/>
              </a:lnSpc>
              <a:spcBef>
                <a:spcPct val="0"/>
              </a:spcBef>
            </a:pPr>
            <a:r>
              <a:rPr lang="en-US" sz="7700" b="1">
                <a:solidFill>
                  <a:srgbClr val="000000"/>
                </a:solidFill>
                <a:latin typeface="Asap Condensed Bold"/>
                <a:ea typeface="Asap Condensed Bold"/>
                <a:cs typeface="Asap Condensed Bold"/>
                <a:sym typeface="Asap Condensed Bold"/>
              </a:rPr>
              <a:t>LEADS ANALYSIS</a:t>
            </a:r>
          </a:p>
        </p:txBody>
      </p:sp>
      <p:sp>
        <p:nvSpPr>
          <p:cNvPr id="36" name="TextBox 36"/>
          <p:cNvSpPr txBox="1"/>
          <p:nvPr/>
        </p:nvSpPr>
        <p:spPr>
          <a:xfrm>
            <a:off x="2270605" y="3868122"/>
            <a:ext cx="5113183" cy="3514706"/>
          </a:xfrm>
          <a:prstGeom prst="rect">
            <a:avLst/>
          </a:prstGeom>
        </p:spPr>
        <p:txBody>
          <a:bodyPr lIns="0" tIns="0" rIns="0" bIns="0" rtlCol="0" anchor="t">
            <a:spAutoFit/>
          </a:bodyPr>
          <a:lstStyle/>
          <a:p>
            <a:pPr marL="475303" lvl="1" indent="-237652" algn="l">
              <a:lnSpc>
                <a:spcPts val="2509"/>
              </a:lnSpc>
              <a:buFont typeface="Arial"/>
              <a:buChar char="•"/>
            </a:pPr>
            <a:r>
              <a:rPr lang="en-US" sz="2201" spc="48">
                <a:solidFill>
                  <a:srgbClr val="000000"/>
                </a:solidFill>
                <a:latin typeface="Dumondi Condensed"/>
                <a:ea typeface="Dumondi Condensed"/>
                <a:cs typeface="Dumondi Condensed"/>
                <a:sym typeface="Dumondi Condensed"/>
              </a:rPr>
              <a:t>Is the spike in leads in quarter 3 and quarter 4 in 2023, has relation to specific locations?</a:t>
            </a:r>
          </a:p>
          <a:p>
            <a:pPr marL="475303" lvl="1" indent="-237652" algn="l">
              <a:lnSpc>
                <a:spcPts val="2509"/>
              </a:lnSpc>
              <a:buFont typeface="Arial"/>
              <a:buChar char="•"/>
            </a:pPr>
            <a:r>
              <a:rPr lang="en-US" sz="2201" spc="48">
                <a:solidFill>
                  <a:srgbClr val="000000"/>
                </a:solidFill>
                <a:latin typeface="Dumondi Condensed"/>
                <a:ea typeface="Dumondi Condensed"/>
                <a:cs typeface="Dumondi Condensed"/>
                <a:sym typeface="Dumondi Condensed"/>
              </a:rPr>
              <a:t>For the third quarter of 2023, the highest location is Heicenda Bay, which raises another hypothesis, that this quarter is the summer season and the highest location leads in the North Coast. Therefore, One of the takeaways is to gain more attention with more marketing and email campaigns for the summer season. </a:t>
            </a:r>
          </a:p>
          <a:p>
            <a:pPr marL="475303" lvl="1" indent="-237652" algn="l">
              <a:lnSpc>
                <a:spcPts val="2509"/>
              </a:lnSpc>
              <a:buFont typeface="Arial"/>
              <a:buChar char="•"/>
            </a:pPr>
            <a:r>
              <a:rPr lang="en-US" sz="2201" spc="48">
                <a:solidFill>
                  <a:srgbClr val="000000"/>
                </a:solidFill>
                <a:latin typeface="Dumondi Condensed"/>
                <a:ea typeface="Dumondi Condensed"/>
                <a:cs typeface="Dumondi Condensed"/>
                <a:sym typeface="Dumondi Condensed"/>
              </a:rPr>
              <a:t>Does this hypothesis affect the sales?</a:t>
            </a:r>
          </a:p>
          <a:p>
            <a:pPr algn="l">
              <a:lnSpc>
                <a:spcPts val="2509"/>
              </a:lnSpc>
            </a:pPr>
            <a:endParaRPr lang="en-US" sz="2201" spc="48">
              <a:solidFill>
                <a:srgbClr val="000000"/>
              </a:solidFill>
              <a:latin typeface="Dumondi Condensed"/>
              <a:ea typeface="Dumondi Condensed"/>
              <a:cs typeface="Dumondi Condensed"/>
              <a:sym typeface="Dumondi Condense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40342" y="9335665"/>
            <a:ext cx="1902670" cy="190267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0106257">
            <a:off x="302954" y="426002"/>
            <a:ext cx="3363512" cy="336351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243697" y="7319270"/>
            <a:ext cx="2241710" cy="224171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923378" y="1617613"/>
            <a:ext cx="14441095" cy="7051773"/>
            <a:chOff x="0" y="0"/>
            <a:chExt cx="18758712" cy="9160122"/>
          </a:xfrm>
        </p:grpSpPr>
        <p:sp>
          <p:nvSpPr>
            <p:cNvPr id="12" name="Freeform 12"/>
            <p:cNvSpPr/>
            <p:nvPr/>
          </p:nvSpPr>
          <p:spPr>
            <a:xfrm>
              <a:off x="31750" y="31750"/>
              <a:ext cx="18693971" cy="9096621"/>
            </a:xfrm>
            <a:custGeom>
              <a:avLst/>
              <a:gdLst/>
              <a:ahLst/>
              <a:cxnLst/>
              <a:rect l="l" t="t" r="r" b="b"/>
              <a:pathLst>
                <a:path w="18693971" h="9096621">
                  <a:moveTo>
                    <a:pt x="18602502" y="9096621"/>
                  </a:moveTo>
                  <a:lnTo>
                    <a:pt x="92710" y="9096621"/>
                  </a:lnTo>
                  <a:cubicBezTo>
                    <a:pt x="41910" y="9096621"/>
                    <a:pt x="0" y="9054712"/>
                    <a:pt x="0" y="9003912"/>
                  </a:cubicBezTo>
                  <a:lnTo>
                    <a:pt x="0" y="92710"/>
                  </a:lnTo>
                  <a:cubicBezTo>
                    <a:pt x="0" y="41910"/>
                    <a:pt x="41910" y="0"/>
                    <a:pt x="92710" y="0"/>
                  </a:cubicBezTo>
                  <a:lnTo>
                    <a:pt x="18601232" y="0"/>
                  </a:lnTo>
                  <a:cubicBezTo>
                    <a:pt x="18652032" y="0"/>
                    <a:pt x="18693943" y="41910"/>
                    <a:pt x="18693943" y="92710"/>
                  </a:cubicBezTo>
                  <a:lnTo>
                    <a:pt x="18693943" y="9002642"/>
                  </a:lnTo>
                  <a:cubicBezTo>
                    <a:pt x="18695212" y="9054712"/>
                    <a:pt x="18653302" y="9096621"/>
                    <a:pt x="18602502" y="9096621"/>
                  </a:cubicBezTo>
                  <a:close/>
                </a:path>
              </a:pathLst>
            </a:custGeom>
            <a:solidFill>
              <a:srgbClr val="FFFFFF"/>
            </a:solidFill>
          </p:spPr>
          <p:txBody>
            <a:bodyPr/>
            <a:lstStyle/>
            <a:p>
              <a:endParaRPr lang="en-US"/>
            </a:p>
          </p:txBody>
        </p:sp>
        <p:sp>
          <p:nvSpPr>
            <p:cNvPr id="13" name="Freeform 13"/>
            <p:cNvSpPr/>
            <p:nvPr/>
          </p:nvSpPr>
          <p:spPr>
            <a:xfrm>
              <a:off x="0" y="0"/>
              <a:ext cx="18758712" cy="9160121"/>
            </a:xfrm>
            <a:custGeom>
              <a:avLst/>
              <a:gdLst/>
              <a:ahLst/>
              <a:cxnLst/>
              <a:rect l="l" t="t" r="r" b="b"/>
              <a:pathLst>
                <a:path w="18758712" h="9160121">
                  <a:moveTo>
                    <a:pt x="18634252" y="59690"/>
                  </a:moveTo>
                  <a:cubicBezTo>
                    <a:pt x="18669812" y="59690"/>
                    <a:pt x="18699021" y="88900"/>
                    <a:pt x="18699021" y="124460"/>
                  </a:cubicBezTo>
                  <a:lnTo>
                    <a:pt x="18699021" y="9035662"/>
                  </a:lnTo>
                  <a:cubicBezTo>
                    <a:pt x="18699021" y="9071221"/>
                    <a:pt x="18669812" y="9100431"/>
                    <a:pt x="18634252" y="9100431"/>
                  </a:cubicBezTo>
                  <a:lnTo>
                    <a:pt x="124460" y="9100431"/>
                  </a:lnTo>
                  <a:cubicBezTo>
                    <a:pt x="88900" y="9100431"/>
                    <a:pt x="59690" y="9071221"/>
                    <a:pt x="59690" y="9035662"/>
                  </a:cubicBezTo>
                  <a:lnTo>
                    <a:pt x="59690" y="124460"/>
                  </a:lnTo>
                  <a:cubicBezTo>
                    <a:pt x="59690" y="88900"/>
                    <a:pt x="88900" y="59690"/>
                    <a:pt x="124460" y="59690"/>
                  </a:cubicBezTo>
                  <a:lnTo>
                    <a:pt x="18634252" y="59690"/>
                  </a:lnTo>
                  <a:moveTo>
                    <a:pt x="18634252" y="0"/>
                  </a:moveTo>
                  <a:lnTo>
                    <a:pt x="124460" y="0"/>
                  </a:lnTo>
                  <a:cubicBezTo>
                    <a:pt x="55880" y="0"/>
                    <a:pt x="0" y="55880"/>
                    <a:pt x="0" y="124460"/>
                  </a:cubicBezTo>
                  <a:lnTo>
                    <a:pt x="0" y="9035662"/>
                  </a:lnTo>
                  <a:cubicBezTo>
                    <a:pt x="0" y="9104242"/>
                    <a:pt x="55880" y="9160121"/>
                    <a:pt x="124460" y="9160121"/>
                  </a:cubicBezTo>
                  <a:lnTo>
                    <a:pt x="18634252" y="9160121"/>
                  </a:lnTo>
                  <a:cubicBezTo>
                    <a:pt x="18702832" y="9160121"/>
                    <a:pt x="18758712" y="9104242"/>
                    <a:pt x="18758712" y="9035662"/>
                  </a:cubicBezTo>
                  <a:lnTo>
                    <a:pt x="18758712" y="124460"/>
                  </a:lnTo>
                  <a:cubicBezTo>
                    <a:pt x="18758712" y="55880"/>
                    <a:pt x="18702832" y="0"/>
                    <a:pt x="18634252" y="0"/>
                  </a:cubicBezTo>
                  <a:close/>
                </a:path>
              </a:pathLst>
            </a:custGeom>
            <a:solidFill>
              <a:srgbClr val="191919"/>
            </a:solidFill>
          </p:spPr>
          <p:txBody>
            <a:bodyPr/>
            <a:lstStyle/>
            <a:p>
              <a:endParaRPr lang="en-US"/>
            </a:p>
          </p:txBody>
        </p:sp>
      </p:grpSp>
      <p:grpSp>
        <p:nvGrpSpPr>
          <p:cNvPr id="14" name="Group 14"/>
          <p:cNvGrpSpPr/>
          <p:nvPr/>
        </p:nvGrpSpPr>
        <p:grpSpPr>
          <a:xfrm>
            <a:off x="14588821" y="2015000"/>
            <a:ext cx="1154593" cy="321067"/>
            <a:chOff x="0" y="0"/>
            <a:chExt cx="1539457" cy="428090"/>
          </a:xfrm>
        </p:grpSpPr>
        <p:grpSp>
          <p:nvGrpSpPr>
            <p:cNvPr id="15" name="Group 15"/>
            <p:cNvGrpSpPr/>
            <p:nvPr/>
          </p:nvGrpSpPr>
          <p:grpSpPr>
            <a:xfrm>
              <a:off x="0" y="0"/>
              <a:ext cx="428090" cy="42809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556206" y="0"/>
              <a:ext cx="428090" cy="42809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111367" y="0"/>
              <a:ext cx="428090" cy="428090"/>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24" name="AutoShape 24"/>
          <p:cNvSpPr/>
          <p:nvPr/>
        </p:nvSpPr>
        <p:spPr>
          <a:xfrm>
            <a:off x="1923418" y="2612293"/>
            <a:ext cx="14441095" cy="23812"/>
          </a:xfrm>
          <a:prstGeom prst="line">
            <a:avLst/>
          </a:prstGeom>
          <a:ln w="47625" cap="flat">
            <a:solidFill>
              <a:srgbClr val="000000"/>
            </a:solidFill>
            <a:prstDash val="solid"/>
            <a:headEnd type="none" w="sm" len="sm"/>
            <a:tailEnd type="none" w="sm" len="sm"/>
          </a:ln>
        </p:spPr>
        <p:txBody>
          <a:bodyPr/>
          <a:lstStyle/>
          <a:p>
            <a:endParaRPr lang="en-US"/>
          </a:p>
        </p:txBody>
      </p:sp>
      <p:grpSp>
        <p:nvGrpSpPr>
          <p:cNvPr id="25" name="Group 25"/>
          <p:cNvGrpSpPr/>
          <p:nvPr/>
        </p:nvGrpSpPr>
        <p:grpSpPr>
          <a:xfrm>
            <a:off x="1444123" y="8190132"/>
            <a:ext cx="958510" cy="958510"/>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8068"/>
            </a:solidFill>
          </p:spPr>
          <p:txBody>
            <a:bodyPr/>
            <a:lstStyle/>
            <a:p>
              <a:endParaRPr lang="en-US"/>
            </a:p>
          </p:txBody>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rot="-10106257">
            <a:off x="4503954" y="690402"/>
            <a:ext cx="676596" cy="676596"/>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16812148" y="5874679"/>
            <a:ext cx="705891" cy="70589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33" name="TextBox 3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4" name="Freeform 34"/>
          <p:cNvSpPr/>
          <p:nvPr/>
        </p:nvSpPr>
        <p:spPr>
          <a:xfrm>
            <a:off x="8578803" y="3802599"/>
            <a:ext cx="7170358" cy="3637089"/>
          </a:xfrm>
          <a:custGeom>
            <a:avLst/>
            <a:gdLst/>
            <a:ahLst/>
            <a:cxnLst/>
            <a:rect l="l" t="t" r="r" b="b"/>
            <a:pathLst>
              <a:path w="7170358" h="3637089">
                <a:moveTo>
                  <a:pt x="0" y="0"/>
                </a:moveTo>
                <a:lnTo>
                  <a:pt x="7170359" y="0"/>
                </a:lnTo>
                <a:lnTo>
                  <a:pt x="7170359" y="3637090"/>
                </a:lnTo>
                <a:lnTo>
                  <a:pt x="0" y="3637090"/>
                </a:lnTo>
                <a:lnTo>
                  <a:pt x="0" y="0"/>
                </a:lnTo>
                <a:close/>
              </a:path>
            </a:pathLst>
          </a:custGeom>
          <a:blipFill>
            <a:blip r:embed="rId2"/>
            <a:stretch>
              <a:fillRect l="-1210" r="-1210"/>
            </a:stretch>
          </a:blipFill>
        </p:spPr>
        <p:txBody>
          <a:bodyPr/>
          <a:lstStyle/>
          <a:p>
            <a:endParaRPr lang="en-US"/>
          </a:p>
        </p:txBody>
      </p:sp>
      <p:sp>
        <p:nvSpPr>
          <p:cNvPr id="35" name="TextBox 35"/>
          <p:cNvSpPr txBox="1"/>
          <p:nvPr/>
        </p:nvSpPr>
        <p:spPr>
          <a:xfrm>
            <a:off x="2402633" y="2483705"/>
            <a:ext cx="6870581" cy="1318894"/>
          </a:xfrm>
          <a:prstGeom prst="rect">
            <a:avLst/>
          </a:prstGeom>
        </p:spPr>
        <p:txBody>
          <a:bodyPr lIns="0" tIns="0" rIns="0" bIns="0" rtlCol="0" anchor="t">
            <a:spAutoFit/>
          </a:bodyPr>
          <a:lstStyle/>
          <a:p>
            <a:pPr algn="just">
              <a:lnSpc>
                <a:spcPts val="10780"/>
              </a:lnSpc>
              <a:spcBef>
                <a:spcPct val="0"/>
              </a:spcBef>
            </a:pPr>
            <a:r>
              <a:rPr lang="en-US" sz="7700" b="1">
                <a:solidFill>
                  <a:srgbClr val="000000"/>
                </a:solidFill>
                <a:latin typeface="Asap Condensed Bold"/>
                <a:ea typeface="Asap Condensed Bold"/>
                <a:cs typeface="Asap Condensed Bold"/>
                <a:sym typeface="Asap Condensed Bold"/>
              </a:rPr>
              <a:t>SALES ANALYSIS</a:t>
            </a:r>
          </a:p>
        </p:txBody>
      </p:sp>
      <p:sp>
        <p:nvSpPr>
          <p:cNvPr id="36" name="TextBox 36"/>
          <p:cNvSpPr txBox="1"/>
          <p:nvPr/>
        </p:nvSpPr>
        <p:spPr>
          <a:xfrm>
            <a:off x="2402633" y="4903923"/>
            <a:ext cx="5113183" cy="970757"/>
          </a:xfrm>
          <a:prstGeom prst="rect">
            <a:avLst/>
          </a:prstGeom>
        </p:spPr>
        <p:txBody>
          <a:bodyPr lIns="0" tIns="0" rIns="0" bIns="0" rtlCol="0" anchor="t">
            <a:spAutoFit/>
          </a:bodyPr>
          <a:lstStyle/>
          <a:p>
            <a:pPr marL="475303" lvl="1" indent="-237652" algn="l">
              <a:lnSpc>
                <a:spcPts val="2509"/>
              </a:lnSpc>
              <a:buFont typeface="Arial"/>
              <a:buChar char="•"/>
            </a:pPr>
            <a:r>
              <a:rPr lang="en-US" sz="2201" spc="48">
                <a:solidFill>
                  <a:srgbClr val="000000"/>
                </a:solidFill>
                <a:latin typeface="Dumondi Condensed"/>
                <a:ea typeface="Dumondi Condensed"/>
                <a:cs typeface="Dumondi Condensed"/>
                <a:sym typeface="Dumondi Condensed"/>
              </a:rPr>
              <a:t>The previous hypothesis is also true on sales, as we found in the third quarter of 2023 the north coast had the highest unit location sales.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40342" y="9335665"/>
            <a:ext cx="1902670" cy="190267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0106257">
            <a:off x="302954" y="426002"/>
            <a:ext cx="3363512" cy="336351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243697" y="7319270"/>
            <a:ext cx="2241710" cy="224171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984710" y="1617613"/>
            <a:ext cx="14441095" cy="7051773"/>
            <a:chOff x="0" y="0"/>
            <a:chExt cx="18758712" cy="9160122"/>
          </a:xfrm>
        </p:grpSpPr>
        <p:sp>
          <p:nvSpPr>
            <p:cNvPr id="12" name="Freeform 12"/>
            <p:cNvSpPr/>
            <p:nvPr/>
          </p:nvSpPr>
          <p:spPr>
            <a:xfrm>
              <a:off x="31750" y="31750"/>
              <a:ext cx="18693971" cy="9096621"/>
            </a:xfrm>
            <a:custGeom>
              <a:avLst/>
              <a:gdLst/>
              <a:ahLst/>
              <a:cxnLst/>
              <a:rect l="l" t="t" r="r" b="b"/>
              <a:pathLst>
                <a:path w="18693971" h="9096621">
                  <a:moveTo>
                    <a:pt x="18602502" y="9096621"/>
                  </a:moveTo>
                  <a:lnTo>
                    <a:pt x="92710" y="9096621"/>
                  </a:lnTo>
                  <a:cubicBezTo>
                    <a:pt x="41910" y="9096621"/>
                    <a:pt x="0" y="9054712"/>
                    <a:pt x="0" y="9003912"/>
                  </a:cubicBezTo>
                  <a:lnTo>
                    <a:pt x="0" y="92710"/>
                  </a:lnTo>
                  <a:cubicBezTo>
                    <a:pt x="0" y="41910"/>
                    <a:pt x="41910" y="0"/>
                    <a:pt x="92710" y="0"/>
                  </a:cubicBezTo>
                  <a:lnTo>
                    <a:pt x="18601232" y="0"/>
                  </a:lnTo>
                  <a:cubicBezTo>
                    <a:pt x="18652032" y="0"/>
                    <a:pt x="18693943" y="41910"/>
                    <a:pt x="18693943" y="92710"/>
                  </a:cubicBezTo>
                  <a:lnTo>
                    <a:pt x="18693943" y="9002642"/>
                  </a:lnTo>
                  <a:cubicBezTo>
                    <a:pt x="18695212" y="9054712"/>
                    <a:pt x="18653302" y="9096621"/>
                    <a:pt x="18602502" y="9096621"/>
                  </a:cubicBezTo>
                  <a:close/>
                </a:path>
              </a:pathLst>
            </a:custGeom>
            <a:solidFill>
              <a:srgbClr val="FFFFFF"/>
            </a:solidFill>
          </p:spPr>
          <p:txBody>
            <a:bodyPr/>
            <a:lstStyle/>
            <a:p>
              <a:endParaRPr lang="en-US"/>
            </a:p>
          </p:txBody>
        </p:sp>
        <p:sp>
          <p:nvSpPr>
            <p:cNvPr id="13" name="Freeform 13"/>
            <p:cNvSpPr/>
            <p:nvPr/>
          </p:nvSpPr>
          <p:spPr>
            <a:xfrm>
              <a:off x="0" y="0"/>
              <a:ext cx="18758712" cy="9160121"/>
            </a:xfrm>
            <a:custGeom>
              <a:avLst/>
              <a:gdLst/>
              <a:ahLst/>
              <a:cxnLst/>
              <a:rect l="l" t="t" r="r" b="b"/>
              <a:pathLst>
                <a:path w="18758712" h="9160121">
                  <a:moveTo>
                    <a:pt x="18634252" y="59690"/>
                  </a:moveTo>
                  <a:cubicBezTo>
                    <a:pt x="18669812" y="59690"/>
                    <a:pt x="18699021" y="88900"/>
                    <a:pt x="18699021" y="124460"/>
                  </a:cubicBezTo>
                  <a:lnTo>
                    <a:pt x="18699021" y="9035662"/>
                  </a:lnTo>
                  <a:cubicBezTo>
                    <a:pt x="18699021" y="9071221"/>
                    <a:pt x="18669812" y="9100431"/>
                    <a:pt x="18634252" y="9100431"/>
                  </a:cubicBezTo>
                  <a:lnTo>
                    <a:pt x="124460" y="9100431"/>
                  </a:lnTo>
                  <a:cubicBezTo>
                    <a:pt x="88900" y="9100431"/>
                    <a:pt x="59690" y="9071221"/>
                    <a:pt x="59690" y="9035662"/>
                  </a:cubicBezTo>
                  <a:lnTo>
                    <a:pt x="59690" y="124460"/>
                  </a:lnTo>
                  <a:cubicBezTo>
                    <a:pt x="59690" y="88900"/>
                    <a:pt x="88900" y="59690"/>
                    <a:pt x="124460" y="59690"/>
                  </a:cubicBezTo>
                  <a:lnTo>
                    <a:pt x="18634252" y="59690"/>
                  </a:lnTo>
                  <a:moveTo>
                    <a:pt x="18634252" y="0"/>
                  </a:moveTo>
                  <a:lnTo>
                    <a:pt x="124460" y="0"/>
                  </a:lnTo>
                  <a:cubicBezTo>
                    <a:pt x="55880" y="0"/>
                    <a:pt x="0" y="55880"/>
                    <a:pt x="0" y="124460"/>
                  </a:cubicBezTo>
                  <a:lnTo>
                    <a:pt x="0" y="9035662"/>
                  </a:lnTo>
                  <a:cubicBezTo>
                    <a:pt x="0" y="9104242"/>
                    <a:pt x="55880" y="9160121"/>
                    <a:pt x="124460" y="9160121"/>
                  </a:cubicBezTo>
                  <a:lnTo>
                    <a:pt x="18634252" y="9160121"/>
                  </a:lnTo>
                  <a:cubicBezTo>
                    <a:pt x="18702832" y="9160121"/>
                    <a:pt x="18758712" y="9104242"/>
                    <a:pt x="18758712" y="9035662"/>
                  </a:cubicBezTo>
                  <a:lnTo>
                    <a:pt x="18758712" y="124460"/>
                  </a:lnTo>
                  <a:cubicBezTo>
                    <a:pt x="18758712" y="55880"/>
                    <a:pt x="18702832" y="0"/>
                    <a:pt x="18634252" y="0"/>
                  </a:cubicBezTo>
                  <a:close/>
                </a:path>
              </a:pathLst>
            </a:custGeom>
            <a:solidFill>
              <a:srgbClr val="191919"/>
            </a:solidFill>
          </p:spPr>
          <p:txBody>
            <a:bodyPr/>
            <a:lstStyle/>
            <a:p>
              <a:endParaRPr lang="en-US"/>
            </a:p>
          </p:txBody>
        </p:sp>
      </p:grpSp>
      <p:grpSp>
        <p:nvGrpSpPr>
          <p:cNvPr id="14" name="Group 14"/>
          <p:cNvGrpSpPr/>
          <p:nvPr/>
        </p:nvGrpSpPr>
        <p:grpSpPr>
          <a:xfrm>
            <a:off x="14588821" y="2015000"/>
            <a:ext cx="1154593" cy="321067"/>
            <a:chOff x="0" y="0"/>
            <a:chExt cx="1539457" cy="428090"/>
          </a:xfrm>
        </p:grpSpPr>
        <p:grpSp>
          <p:nvGrpSpPr>
            <p:cNvPr id="15" name="Group 15"/>
            <p:cNvGrpSpPr/>
            <p:nvPr/>
          </p:nvGrpSpPr>
          <p:grpSpPr>
            <a:xfrm>
              <a:off x="0" y="0"/>
              <a:ext cx="428090" cy="42809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556206" y="0"/>
              <a:ext cx="428090" cy="42809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111367" y="0"/>
              <a:ext cx="428090" cy="428090"/>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24" name="AutoShape 24"/>
          <p:cNvSpPr/>
          <p:nvPr/>
        </p:nvSpPr>
        <p:spPr>
          <a:xfrm>
            <a:off x="1923418" y="2612293"/>
            <a:ext cx="14441095" cy="23812"/>
          </a:xfrm>
          <a:prstGeom prst="line">
            <a:avLst/>
          </a:prstGeom>
          <a:ln w="47625" cap="flat">
            <a:solidFill>
              <a:srgbClr val="000000"/>
            </a:solidFill>
            <a:prstDash val="solid"/>
            <a:headEnd type="none" w="sm" len="sm"/>
            <a:tailEnd type="none" w="sm" len="sm"/>
          </a:ln>
        </p:spPr>
        <p:txBody>
          <a:bodyPr/>
          <a:lstStyle/>
          <a:p>
            <a:endParaRPr lang="en-US"/>
          </a:p>
        </p:txBody>
      </p:sp>
      <p:grpSp>
        <p:nvGrpSpPr>
          <p:cNvPr id="25" name="Group 25"/>
          <p:cNvGrpSpPr/>
          <p:nvPr/>
        </p:nvGrpSpPr>
        <p:grpSpPr>
          <a:xfrm>
            <a:off x="1444123" y="8190132"/>
            <a:ext cx="958510" cy="958510"/>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8068"/>
            </a:solidFill>
          </p:spPr>
          <p:txBody>
            <a:bodyPr/>
            <a:lstStyle/>
            <a:p>
              <a:endParaRPr lang="en-US"/>
            </a:p>
          </p:txBody>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rot="-10106257">
            <a:off x="4503954" y="690402"/>
            <a:ext cx="676596" cy="676596"/>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16812148" y="5874679"/>
            <a:ext cx="705891" cy="70589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33" name="TextBox 3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4" name="Freeform 34"/>
          <p:cNvSpPr/>
          <p:nvPr/>
        </p:nvSpPr>
        <p:spPr>
          <a:xfrm>
            <a:off x="11093519" y="3802599"/>
            <a:ext cx="4959151" cy="3310533"/>
          </a:xfrm>
          <a:custGeom>
            <a:avLst/>
            <a:gdLst/>
            <a:ahLst/>
            <a:cxnLst/>
            <a:rect l="l" t="t" r="r" b="b"/>
            <a:pathLst>
              <a:path w="4959151" h="3310533">
                <a:moveTo>
                  <a:pt x="0" y="0"/>
                </a:moveTo>
                <a:lnTo>
                  <a:pt x="4959151" y="0"/>
                </a:lnTo>
                <a:lnTo>
                  <a:pt x="4959151" y="3310533"/>
                </a:lnTo>
                <a:lnTo>
                  <a:pt x="0" y="3310533"/>
                </a:lnTo>
                <a:lnTo>
                  <a:pt x="0" y="0"/>
                </a:lnTo>
                <a:close/>
              </a:path>
            </a:pathLst>
          </a:custGeom>
          <a:blipFill>
            <a:blip r:embed="rId2"/>
            <a:stretch>
              <a:fillRect/>
            </a:stretch>
          </a:blipFill>
        </p:spPr>
        <p:txBody>
          <a:bodyPr/>
          <a:lstStyle/>
          <a:p>
            <a:endParaRPr lang="en-US"/>
          </a:p>
        </p:txBody>
      </p:sp>
      <p:sp>
        <p:nvSpPr>
          <p:cNvPr id="35" name="TextBox 35"/>
          <p:cNvSpPr txBox="1"/>
          <p:nvPr/>
        </p:nvSpPr>
        <p:spPr>
          <a:xfrm>
            <a:off x="2402633" y="2483705"/>
            <a:ext cx="6870581" cy="1318894"/>
          </a:xfrm>
          <a:prstGeom prst="rect">
            <a:avLst/>
          </a:prstGeom>
        </p:spPr>
        <p:txBody>
          <a:bodyPr lIns="0" tIns="0" rIns="0" bIns="0" rtlCol="0" anchor="t">
            <a:spAutoFit/>
          </a:bodyPr>
          <a:lstStyle/>
          <a:p>
            <a:pPr algn="just">
              <a:lnSpc>
                <a:spcPts val="10780"/>
              </a:lnSpc>
              <a:spcBef>
                <a:spcPct val="0"/>
              </a:spcBef>
            </a:pPr>
            <a:r>
              <a:rPr lang="en-US" sz="7700" b="1">
                <a:solidFill>
                  <a:srgbClr val="000000"/>
                </a:solidFill>
                <a:latin typeface="Asap Condensed Bold"/>
                <a:ea typeface="Asap Condensed Bold"/>
                <a:cs typeface="Asap Condensed Bold"/>
                <a:sym typeface="Asap Condensed Bold"/>
              </a:rPr>
              <a:t>SALES ANALYSIS</a:t>
            </a:r>
          </a:p>
        </p:txBody>
      </p:sp>
      <p:sp>
        <p:nvSpPr>
          <p:cNvPr id="36" name="TextBox 36"/>
          <p:cNvSpPr txBox="1"/>
          <p:nvPr/>
        </p:nvSpPr>
        <p:spPr>
          <a:xfrm>
            <a:off x="2285661" y="3946122"/>
            <a:ext cx="5113183" cy="1924738"/>
          </a:xfrm>
          <a:prstGeom prst="rect">
            <a:avLst/>
          </a:prstGeom>
        </p:spPr>
        <p:txBody>
          <a:bodyPr lIns="0" tIns="0" rIns="0" bIns="0" rtlCol="0" anchor="t">
            <a:spAutoFit/>
          </a:bodyPr>
          <a:lstStyle/>
          <a:p>
            <a:pPr marL="475303" lvl="1" indent="-237652" algn="l">
              <a:lnSpc>
                <a:spcPts val="2509"/>
              </a:lnSpc>
              <a:buFont typeface="Arial"/>
              <a:buChar char="•"/>
            </a:pPr>
            <a:r>
              <a:rPr lang="en-US" sz="2201" spc="48">
                <a:solidFill>
                  <a:srgbClr val="000000"/>
                </a:solidFill>
                <a:latin typeface="Dumondi Condensed"/>
                <a:ea typeface="Dumondi Condensed"/>
                <a:cs typeface="Dumondi Condensed"/>
                <a:sym typeface="Dumondi Condensed"/>
              </a:rPr>
              <a:t>Sales Conversion Rate is a metric used to measure the proportion of qualified leads of a company that result in actual sales.</a:t>
            </a:r>
          </a:p>
          <a:p>
            <a:pPr marL="475303" lvl="1" indent="-237652" algn="l">
              <a:lnSpc>
                <a:spcPts val="2509"/>
              </a:lnSpc>
              <a:buFont typeface="Arial"/>
              <a:buChar char="•"/>
            </a:pPr>
            <a:r>
              <a:rPr lang="en-US" sz="2201" spc="48">
                <a:solidFill>
                  <a:srgbClr val="000000"/>
                </a:solidFill>
                <a:latin typeface="Dumondi Condensed"/>
                <a:ea typeface="Dumondi Condensed"/>
                <a:cs typeface="Dumondi Condensed"/>
                <a:sym typeface="Dumondi Condensed"/>
              </a:rPr>
              <a:t>Found that top lead sources that have the highest lead numbers contribute to being top lead sources in sales.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065979" y="2661221"/>
            <a:ext cx="2241710" cy="224171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0106257">
            <a:off x="-1043385" y="-1368934"/>
            <a:ext cx="4144169" cy="414416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923418" y="1617613"/>
            <a:ext cx="14441095" cy="7051773"/>
            <a:chOff x="0" y="0"/>
            <a:chExt cx="18758712" cy="9160122"/>
          </a:xfrm>
        </p:grpSpPr>
        <p:sp>
          <p:nvSpPr>
            <p:cNvPr id="9" name="Freeform 9"/>
            <p:cNvSpPr/>
            <p:nvPr/>
          </p:nvSpPr>
          <p:spPr>
            <a:xfrm>
              <a:off x="31750" y="31750"/>
              <a:ext cx="18693971" cy="9096621"/>
            </a:xfrm>
            <a:custGeom>
              <a:avLst/>
              <a:gdLst/>
              <a:ahLst/>
              <a:cxnLst/>
              <a:rect l="l" t="t" r="r" b="b"/>
              <a:pathLst>
                <a:path w="18693971" h="9096621">
                  <a:moveTo>
                    <a:pt x="18602502" y="9096621"/>
                  </a:moveTo>
                  <a:lnTo>
                    <a:pt x="92710" y="9096621"/>
                  </a:lnTo>
                  <a:cubicBezTo>
                    <a:pt x="41910" y="9096621"/>
                    <a:pt x="0" y="9054712"/>
                    <a:pt x="0" y="9003912"/>
                  </a:cubicBezTo>
                  <a:lnTo>
                    <a:pt x="0" y="92710"/>
                  </a:lnTo>
                  <a:cubicBezTo>
                    <a:pt x="0" y="41910"/>
                    <a:pt x="41910" y="0"/>
                    <a:pt x="92710" y="0"/>
                  </a:cubicBezTo>
                  <a:lnTo>
                    <a:pt x="18601232" y="0"/>
                  </a:lnTo>
                  <a:cubicBezTo>
                    <a:pt x="18652032" y="0"/>
                    <a:pt x="18693943" y="41910"/>
                    <a:pt x="18693943" y="92710"/>
                  </a:cubicBezTo>
                  <a:lnTo>
                    <a:pt x="18693943" y="9002642"/>
                  </a:lnTo>
                  <a:cubicBezTo>
                    <a:pt x="18695212" y="9054712"/>
                    <a:pt x="18653302" y="9096621"/>
                    <a:pt x="18602502" y="9096621"/>
                  </a:cubicBezTo>
                  <a:close/>
                </a:path>
              </a:pathLst>
            </a:custGeom>
            <a:solidFill>
              <a:srgbClr val="FFFFFF"/>
            </a:solidFill>
          </p:spPr>
          <p:txBody>
            <a:bodyPr/>
            <a:lstStyle/>
            <a:p>
              <a:endParaRPr lang="en-US"/>
            </a:p>
          </p:txBody>
        </p:sp>
        <p:sp>
          <p:nvSpPr>
            <p:cNvPr id="10" name="Freeform 10"/>
            <p:cNvSpPr/>
            <p:nvPr/>
          </p:nvSpPr>
          <p:spPr>
            <a:xfrm>
              <a:off x="0" y="0"/>
              <a:ext cx="18758712" cy="9160121"/>
            </a:xfrm>
            <a:custGeom>
              <a:avLst/>
              <a:gdLst/>
              <a:ahLst/>
              <a:cxnLst/>
              <a:rect l="l" t="t" r="r" b="b"/>
              <a:pathLst>
                <a:path w="18758712" h="9160121">
                  <a:moveTo>
                    <a:pt x="18634252" y="59690"/>
                  </a:moveTo>
                  <a:cubicBezTo>
                    <a:pt x="18669812" y="59690"/>
                    <a:pt x="18699021" y="88900"/>
                    <a:pt x="18699021" y="124460"/>
                  </a:cubicBezTo>
                  <a:lnTo>
                    <a:pt x="18699021" y="9035662"/>
                  </a:lnTo>
                  <a:cubicBezTo>
                    <a:pt x="18699021" y="9071221"/>
                    <a:pt x="18669812" y="9100431"/>
                    <a:pt x="18634252" y="9100431"/>
                  </a:cubicBezTo>
                  <a:lnTo>
                    <a:pt x="124460" y="9100431"/>
                  </a:lnTo>
                  <a:cubicBezTo>
                    <a:pt x="88900" y="9100431"/>
                    <a:pt x="59690" y="9071221"/>
                    <a:pt x="59690" y="9035662"/>
                  </a:cubicBezTo>
                  <a:lnTo>
                    <a:pt x="59690" y="124460"/>
                  </a:lnTo>
                  <a:cubicBezTo>
                    <a:pt x="59690" y="88900"/>
                    <a:pt x="88900" y="59690"/>
                    <a:pt x="124460" y="59690"/>
                  </a:cubicBezTo>
                  <a:lnTo>
                    <a:pt x="18634252" y="59690"/>
                  </a:lnTo>
                  <a:moveTo>
                    <a:pt x="18634252" y="0"/>
                  </a:moveTo>
                  <a:lnTo>
                    <a:pt x="124460" y="0"/>
                  </a:lnTo>
                  <a:cubicBezTo>
                    <a:pt x="55880" y="0"/>
                    <a:pt x="0" y="55880"/>
                    <a:pt x="0" y="124460"/>
                  </a:cubicBezTo>
                  <a:lnTo>
                    <a:pt x="0" y="9035662"/>
                  </a:lnTo>
                  <a:cubicBezTo>
                    <a:pt x="0" y="9104242"/>
                    <a:pt x="55880" y="9160121"/>
                    <a:pt x="124460" y="9160121"/>
                  </a:cubicBezTo>
                  <a:lnTo>
                    <a:pt x="18634252" y="9160121"/>
                  </a:lnTo>
                  <a:cubicBezTo>
                    <a:pt x="18702832" y="9160121"/>
                    <a:pt x="18758712" y="9104242"/>
                    <a:pt x="18758712" y="9035662"/>
                  </a:cubicBezTo>
                  <a:lnTo>
                    <a:pt x="18758712" y="124460"/>
                  </a:lnTo>
                  <a:cubicBezTo>
                    <a:pt x="18758712" y="55880"/>
                    <a:pt x="18702832" y="0"/>
                    <a:pt x="18634252" y="0"/>
                  </a:cubicBezTo>
                  <a:close/>
                </a:path>
              </a:pathLst>
            </a:custGeom>
            <a:solidFill>
              <a:srgbClr val="191919"/>
            </a:solidFill>
          </p:spPr>
          <p:txBody>
            <a:bodyPr/>
            <a:lstStyle/>
            <a:p>
              <a:endParaRPr lang="en-US"/>
            </a:p>
          </p:txBody>
        </p:sp>
      </p:grpSp>
      <p:grpSp>
        <p:nvGrpSpPr>
          <p:cNvPr id="11" name="Group 11"/>
          <p:cNvGrpSpPr/>
          <p:nvPr/>
        </p:nvGrpSpPr>
        <p:grpSpPr>
          <a:xfrm>
            <a:off x="14588821" y="2015000"/>
            <a:ext cx="1154593" cy="321067"/>
            <a:chOff x="0" y="0"/>
            <a:chExt cx="1539457" cy="428090"/>
          </a:xfrm>
        </p:grpSpPr>
        <p:grpSp>
          <p:nvGrpSpPr>
            <p:cNvPr id="12" name="Group 12"/>
            <p:cNvGrpSpPr/>
            <p:nvPr/>
          </p:nvGrpSpPr>
          <p:grpSpPr>
            <a:xfrm>
              <a:off x="0" y="0"/>
              <a:ext cx="428090" cy="42809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556206" y="0"/>
              <a:ext cx="428090" cy="42809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111367" y="0"/>
              <a:ext cx="428090" cy="42809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21" name="TextBox 21"/>
          <p:cNvSpPr txBox="1"/>
          <p:nvPr/>
        </p:nvSpPr>
        <p:spPr>
          <a:xfrm>
            <a:off x="5294157" y="4167284"/>
            <a:ext cx="7699617" cy="1318894"/>
          </a:xfrm>
          <a:prstGeom prst="rect">
            <a:avLst/>
          </a:prstGeom>
        </p:spPr>
        <p:txBody>
          <a:bodyPr lIns="0" tIns="0" rIns="0" bIns="0" rtlCol="0" anchor="t">
            <a:spAutoFit/>
          </a:bodyPr>
          <a:lstStyle/>
          <a:p>
            <a:pPr algn="ctr">
              <a:lnSpc>
                <a:spcPts val="10780"/>
              </a:lnSpc>
              <a:spcBef>
                <a:spcPct val="0"/>
              </a:spcBef>
            </a:pPr>
            <a:r>
              <a:rPr lang="en-US" sz="7700" b="1">
                <a:solidFill>
                  <a:srgbClr val="000000"/>
                </a:solidFill>
                <a:latin typeface="Asap Condensed Bold"/>
                <a:ea typeface="Asap Condensed Bold"/>
                <a:cs typeface="Asap Condensed Bold"/>
                <a:sym typeface="Asap Condensed Bold"/>
              </a:rPr>
              <a:t>CONCLUSIONS</a:t>
            </a:r>
          </a:p>
        </p:txBody>
      </p:sp>
      <p:sp>
        <p:nvSpPr>
          <p:cNvPr id="22" name="AutoShape 22"/>
          <p:cNvSpPr/>
          <p:nvPr/>
        </p:nvSpPr>
        <p:spPr>
          <a:xfrm>
            <a:off x="1923418" y="2612293"/>
            <a:ext cx="14441095" cy="23812"/>
          </a:xfrm>
          <a:prstGeom prst="line">
            <a:avLst/>
          </a:prstGeom>
          <a:ln w="47625" cap="flat">
            <a:solidFill>
              <a:srgbClr val="000000"/>
            </a:solidFill>
            <a:prstDash val="solid"/>
            <a:headEnd type="none" w="sm" len="sm"/>
            <a:tailEnd type="none" w="sm" len="sm"/>
          </a:ln>
        </p:spPr>
        <p:txBody>
          <a:bodyPr/>
          <a:lstStyle/>
          <a:p>
            <a:endParaRPr lang="en-US"/>
          </a:p>
        </p:txBody>
      </p:sp>
      <p:pic>
        <p:nvPicPr>
          <p:cNvPr id="23" name="Picture 23"/>
          <p:cNvPicPr>
            <a:picLocks noChangeAspect="1"/>
          </p:cNvPicPr>
          <p:nvPr/>
        </p:nvPicPr>
        <p:blipFill>
          <a:blip r:embed="rId2"/>
          <a:srcRect/>
          <a:stretch>
            <a:fillRect/>
          </a:stretch>
        </p:blipFill>
        <p:spPr>
          <a:xfrm>
            <a:off x="-4486518" y="2659917"/>
            <a:ext cx="9623575" cy="8842229"/>
          </a:xfrm>
          <a:prstGeom prst="rect">
            <a:avLst/>
          </a:prstGeom>
        </p:spPr>
      </p:pic>
      <p:grpSp>
        <p:nvGrpSpPr>
          <p:cNvPr id="24" name="Group 24"/>
          <p:cNvGrpSpPr/>
          <p:nvPr/>
        </p:nvGrpSpPr>
        <p:grpSpPr>
          <a:xfrm>
            <a:off x="16004982" y="5666379"/>
            <a:ext cx="1023862" cy="102386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26" name="TextBox 26"/>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rot="-10106257">
            <a:off x="3866095" y="627589"/>
            <a:ext cx="802223" cy="80222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29" name="TextBox 29"/>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15166117" y="7639523"/>
            <a:ext cx="3629641" cy="3629641"/>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C853"/>
            </a:solidFill>
          </p:spPr>
          <p:txBody>
            <a:bodyPr/>
            <a:lstStyle/>
            <a:p>
              <a:endParaRPr lang="en-US"/>
            </a:p>
          </p:txBody>
        </p:sp>
        <p:sp>
          <p:nvSpPr>
            <p:cNvPr id="32" name="TextBox 32"/>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20156" y="7836312"/>
            <a:ext cx="3188056" cy="318805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5EE9"/>
            </a:solidFill>
          </p:spPr>
          <p:txBody>
            <a:bodyPr/>
            <a:lstStyle/>
            <a:p>
              <a:endParaRPr lang="en-U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83195" y="-614342"/>
            <a:ext cx="1643042" cy="164304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7354"/>
            </a:solidFill>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4863697" y="7112323"/>
            <a:ext cx="2790777" cy="279077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8068"/>
            </a:solidFill>
          </p:spPr>
          <p:txBody>
            <a:bodyPr/>
            <a:lstStyle/>
            <a:p>
              <a:endParaRPr lang="en-US"/>
            </a:p>
          </p:txBody>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2949922" y="8123812"/>
            <a:ext cx="767800" cy="76780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8068"/>
            </a:solidFill>
          </p:spPr>
          <p:txBody>
            <a:bodyPr/>
            <a:lstStyle/>
            <a:p>
              <a:endParaRPr lang="en-US"/>
            </a:p>
          </p:txBody>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1028700" y="1469950"/>
            <a:ext cx="3650997" cy="2283532"/>
          </a:xfrm>
          <a:custGeom>
            <a:avLst/>
            <a:gdLst/>
            <a:ahLst/>
            <a:cxnLst/>
            <a:rect l="l" t="t" r="r" b="b"/>
            <a:pathLst>
              <a:path w="3650997" h="2283532">
                <a:moveTo>
                  <a:pt x="0" y="0"/>
                </a:moveTo>
                <a:lnTo>
                  <a:pt x="3650997" y="0"/>
                </a:lnTo>
                <a:lnTo>
                  <a:pt x="3650997" y="2283532"/>
                </a:lnTo>
                <a:lnTo>
                  <a:pt x="0" y="22835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TextBox 15"/>
          <p:cNvSpPr txBox="1"/>
          <p:nvPr/>
        </p:nvSpPr>
        <p:spPr>
          <a:xfrm>
            <a:off x="1028700" y="3204922"/>
            <a:ext cx="8115300" cy="2280584"/>
          </a:xfrm>
          <a:prstGeom prst="rect">
            <a:avLst/>
          </a:prstGeom>
        </p:spPr>
        <p:txBody>
          <a:bodyPr lIns="0" tIns="0" rIns="0" bIns="0" rtlCol="0" anchor="t">
            <a:spAutoFit/>
          </a:bodyPr>
          <a:lstStyle/>
          <a:p>
            <a:pPr algn="r">
              <a:lnSpc>
                <a:spcPts val="18673"/>
              </a:lnSpc>
              <a:spcBef>
                <a:spcPct val="0"/>
              </a:spcBef>
            </a:pPr>
            <a:r>
              <a:rPr lang="en-US" sz="13338" b="1">
                <a:solidFill>
                  <a:srgbClr val="000000"/>
                </a:solidFill>
                <a:latin typeface="Asap Condensed Bold"/>
                <a:ea typeface="Asap Condensed Bold"/>
                <a:cs typeface="Asap Condensed Bold"/>
                <a:sym typeface="Asap Condensed Bold"/>
              </a:rPr>
              <a:t>THANK</a:t>
            </a:r>
          </a:p>
        </p:txBody>
      </p:sp>
      <p:sp>
        <p:nvSpPr>
          <p:cNvPr id="16" name="TextBox 16"/>
          <p:cNvSpPr txBox="1"/>
          <p:nvPr/>
        </p:nvSpPr>
        <p:spPr>
          <a:xfrm>
            <a:off x="1028700" y="4617622"/>
            <a:ext cx="8115300" cy="3218690"/>
          </a:xfrm>
          <a:prstGeom prst="rect">
            <a:avLst/>
          </a:prstGeom>
        </p:spPr>
        <p:txBody>
          <a:bodyPr lIns="0" tIns="0" rIns="0" bIns="0" rtlCol="0" anchor="t">
            <a:spAutoFit/>
          </a:bodyPr>
          <a:lstStyle/>
          <a:p>
            <a:pPr algn="r">
              <a:lnSpc>
                <a:spcPts val="26291"/>
              </a:lnSpc>
              <a:spcBef>
                <a:spcPct val="0"/>
              </a:spcBef>
            </a:pPr>
            <a:r>
              <a:rPr lang="en-US" sz="18779" b="1">
                <a:solidFill>
                  <a:srgbClr val="000000"/>
                </a:solidFill>
                <a:latin typeface="Asap Condensed Bold"/>
                <a:ea typeface="Asap Condensed Bold"/>
                <a:cs typeface="Asap Condensed Bold"/>
                <a:sym typeface="Asap Condensed Bold"/>
              </a:rPr>
              <a:t>YOU!</a:t>
            </a:r>
          </a:p>
        </p:txBody>
      </p:sp>
      <p:sp>
        <p:nvSpPr>
          <p:cNvPr id="17" name="TextBox 17"/>
          <p:cNvSpPr txBox="1"/>
          <p:nvPr/>
        </p:nvSpPr>
        <p:spPr>
          <a:xfrm>
            <a:off x="4203497" y="7658991"/>
            <a:ext cx="5804545" cy="497841"/>
          </a:xfrm>
          <a:prstGeom prst="rect">
            <a:avLst/>
          </a:prstGeom>
        </p:spPr>
        <p:txBody>
          <a:bodyPr lIns="0" tIns="0" rIns="0" bIns="0" rtlCol="0" anchor="t">
            <a:spAutoFit/>
          </a:bodyPr>
          <a:lstStyle/>
          <a:p>
            <a:pPr algn="ctr">
              <a:lnSpc>
                <a:spcPts val="4059"/>
              </a:lnSpc>
              <a:spcBef>
                <a:spcPct val="0"/>
              </a:spcBef>
            </a:pPr>
            <a:r>
              <a:rPr lang="en-US" sz="2899" b="1" spc="214">
                <a:solidFill>
                  <a:srgbClr val="000000"/>
                </a:solidFill>
                <a:latin typeface="Dumondi Condensed Bold"/>
                <a:ea typeface="Dumondi Condensed Bold"/>
                <a:cs typeface="Dumondi Condensed Bold"/>
                <a:sym typeface="Dumondi Condensed Bold"/>
              </a:rPr>
              <a:t>Any Questions</a:t>
            </a:r>
          </a:p>
        </p:txBody>
      </p:sp>
      <p:pic>
        <p:nvPicPr>
          <p:cNvPr id="18" name="Picture 18"/>
          <p:cNvPicPr>
            <a:picLocks noChangeAspect="1"/>
          </p:cNvPicPr>
          <p:nvPr/>
        </p:nvPicPr>
        <p:blipFill>
          <a:blip r:embed="rId4"/>
          <a:srcRect/>
          <a:stretch>
            <a:fillRect/>
          </a:stretch>
        </p:blipFill>
        <p:spPr>
          <a:xfrm>
            <a:off x="10511781" y="2041211"/>
            <a:ext cx="6082168" cy="688859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530</Words>
  <Application>Microsoft Office PowerPoint</Application>
  <PresentationFormat>Custom</PresentationFormat>
  <Paragraphs>60</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Dumondi Condensed</vt:lpstr>
      <vt:lpstr>Arial</vt:lpstr>
      <vt:lpstr>Calibri</vt:lpstr>
      <vt:lpstr>Asap Condensed Bold</vt:lpstr>
      <vt:lpstr>Dumondi Condensed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Estate Data Analysis Case</dc:title>
  <cp:lastModifiedBy>radwa ali</cp:lastModifiedBy>
  <cp:revision>2</cp:revision>
  <dcterms:created xsi:type="dcterms:W3CDTF">2006-08-16T00:00:00Z</dcterms:created>
  <dcterms:modified xsi:type="dcterms:W3CDTF">2026-10-20T21:34:31Z</dcterms:modified>
  <dc:identifier>DAGDToSe3zY</dc:identifier>
</cp:coreProperties>
</file>